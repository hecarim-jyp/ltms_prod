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417" r:id="rId3"/>
    <p:sldId id="395" r:id="rId4"/>
    <p:sldId id="419" r:id="rId5"/>
    <p:sldId id="420" r:id="rId6"/>
    <p:sldId id="421" r:id="rId7"/>
    <p:sldId id="423" r:id="rId8"/>
    <p:sldId id="425" r:id="rId9"/>
    <p:sldId id="435" r:id="rId10"/>
    <p:sldId id="429" r:id="rId11"/>
    <p:sldId id="428" r:id="rId12"/>
    <p:sldId id="430" r:id="rId13"/>
    <p:sldId id="431" r:id="rId14"/>
    <p:sldId id="432" r:id="rId15"/>
    <p:sldId id="436" r:id="rId16"/>
    <p:sldId id="433" r:id="rId17"/>
    <p:sldId id="437" r:id="rId18"/>
    <p:sldId id="434" r:id="rId19"/>
    <p:sldId id="438" r:id="rId20"/>
    <p:sldId id="416" r:id="rId21"/>
    <p:sldId id="400" r:id="rId22"/>
    <p:sldId id="439" r:id="rId23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6E67"/>
    <a:srgbClr val="FF9966"/>
    <a:srgbClr val="FF993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6242" autoAdjust="0"/>
  </p:normalViewPr>
  <p:slideViewPr>
    <p:cSldViewPr snapToGrid="0">
      <p:cViewPr>
        <p:scale>
          <a:sx n="100" d="100"/>
          <a:sy n="100" d="100"/>
        </p:scale>
        <p:origin x="115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4B5B7-40F9-4C8B-8BDD-EA3B733C4A2D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43013"/>
            <a:ext cx="5946775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2F341A-A58B-4E9B-B7BF-60EB0DF1D3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007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 업무 효율화 안에 대해 보고 드리겠습니다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340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ECE9B-99C9-CFE9-1ABF-9F9EB1AA4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5D6076-5362-7E22-ECFA-0745554AD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D98EC6-6329-6884-5C09-D00F66672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규제연구팀은 총 </a:t>
            </a:r>
            <a:r>
              <a:rPr lang="en-US" altLang="ko-KR" dirty="0"/>
              <a:t>5</a:t>
            </a:r>
            <a:r>
              <a:rPr lang="ko-KR" altLang="en-US" dirty="0"/>
              <a:t>개 파트에서 </a:t>
            </a:r>
            <a:r>
              <a:rPr lang="en-US" altLang="ko-KR" dirty="0"/>
              <a:t>4</a:t>
            </a:r>
            <a:r>
              <a:rPr lang="ko-KR" altLang="en-US" dirty="0"/>
              <a:t>개파트는 꼭 필요한 </a:t>
            </a:r>
            <a:r>
              <a:rPr lang="en-US" altLang="ko-KR" dirty="0"/>
              <a:t>1~2</a:t>
            </a:r>
            <a:r>
              <a:rPr lang="ko-KR" altLang="en-US" dirty="0"/>
              <a:t>명으로 운영하고 있고 국내 </a:t>
            </a:r>
            <a:r>
              <a:rPr lang="en-US" altLang="ko-KR" dirty="0"/>
              <a:t>RA </a:t>
            </a:r>
            <a:r>
              <a:rPr lang="ko-KR" altLang="en-US" dirty="0"/>
              <a:t>파트는 </a:t>
            </a:r>
            <a:r>
              <a:rPr lang="en-US" altLang="ko-KR" dirty="0"/>
              <a:t>9</a:t>
            </a:r>
            <a:r>
              <a:rPr lang="ko-KR" altLang="en-US" dirty="0"/>
              <a:t>명이 </a:t>
            </a:r>
            <a:r>
              <a:rPr lang="ko-KR" altLang="en-US" dirty="0" err="1"/>
              <a:t>잉글</a:t>
            </a:r>
            <a:r>
              <a:rPr lang="en-US" altLang="ko-KR" dirty="0"/>
              <a:t>, </a:t>
            </a:r>
            <a:r>
              <a:rPr lang="ko-KR" altLang="en-US" dirty="0"/>
              <a:t>메카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</a:t>
            </a:r>
            <a:r>
              <a:rPr lang="en-US" altLang="ko-KR" dirty="0"/>
              <a:t>, </a:t>
            </a:r>
            <a:r>
              <a:rPr lang="ko-KR" altLang="en-US" dirty="0"/>
              <a:t>규제검토 업무를 진행하고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/>
              <a:t>개년동안 인원은 지속적으로 감소한 반면</a:t>
            </a:r>
            <a:r>
              <a:rPr lang="en-US" altLang="ko-KR" dirty="0"/>
              <a:t>, </a:t>
            </a:r>
            <a:r>
              <a:rPr lang="ko-KR" altLang="en-US" dirty="0"/>
              <a:t>문안검토 횟수증가</a:t>
            </a:r>
            <a:r>
              <a:rPr lang="en-US" altLang="ko-KR" dirty="0"/>
              <a:t>, </a:t>
            </a:r>
            <a:r>
              <a:rPr lang="ko-KR" altLang="en-US" dirty="0"/>
              <a:t>규제검토요청 </a:t>
            </a:r>
            <a:r>
              <a:rPr lang="ko-KR" altLang="en-US" dirty="0" err="1"/>
              <a:t>수출국갯수</a:t>
            </a:r>
            <a:r>
              <a:rPr lang="ko-KR" altLang="en-US" dirty="0"/>
              <a:t> 증가</a:t>
            </a:r>
            <a:r>
              <a:rPr lang="en-US" altLang="ko-KR" dirty="0"/>
              <a:t>, </a:t>
            </a:r>
            <a:r>
              <a:rPr lang="ko-KR" altLang="en-US" dirty="0"/>
              <a:t>비건</a:t>
            </a:r>
            <a:r>
              <a:rPr lang="en-US" altLang="ko-KR" dirty="0"/>
              <a:t>, </a:t>
            </a:r>
            <a:r>
              <a:rPr lang="ko-KR" altLang="en-US" dirty="0" err="1"/>
              <a:t>할랄</a:t>
            </a:r>
            <a:r>
              <a:rPr lang="ko-KR" altLang="en-US" dirty="0"/>
              <a:t> 인증서비스 대행 및 고객사 플랫폼에 정보</a:t>
            </a:r>
            <a:r>
              <a:rPr lang="en-US" altLang="ko-KR" dirty="0"/>
              <a:t>,</a:t>
            </a:r>
            <a:r>
              <a:rPr lang="ko-KR" altLang="en-US" dirty="0"/>
              <a:t>문서 등록하는 업무가 추가 되었고</a:t>
            </a:r>
            <a:endParaRPr lang="en-US" altLang="ko-KR" dirty="0"/>
          </a:p>
          <a:p>
            <a:r>
              <a:rPr lang="ko-KR" altLang="en-US" dirty="0"/>
              <a:t>최근 중국 </a:t>
            </a:r>
            <a:r>
              <a:rPr lang="en-US" altLang="ko-KR" dirty="0" err="1"/>
              <a:t>nmpa</a:t>
            </a:r>
            <a:r>
              <a:rPr lang="ko-KR" altLang="en-US" dirty="0"/>
              <a:t>등록</a:t>
            </a:r>
            <a:r>
              <a:rPr lang="en-US" altLang="ko-KR" dirty="0"/>
              <a:t>, </a:t>
            </a:r>
            <a:r>
              <a:rPr lang="ko-KR" altLang="en-US" dirty="0"/>
              <a:t>추출물 용매분리 등으로 기존 제품에 대한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 재확인 등의 업무가 증가하였습니다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F0C4B7-1759-C833-AA8A-182C37671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969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규제연구팀은 총 </a:t>
            </a:r>
            <a:r>
              <a:rPr lang="en-US" altLang="ko-KR" dirty="0"/>
              <a:t>5</a:t>
            </a:r>
            <a:r>
              <a:rPr lang="ko-KR" altLang="en-US" dirty="0"/>
              <a:t>개 파트에서 </a:t>
            </a:r>
            <a:r>
              <a:rPr lang="en-US" altLang="ko-KR" dirty="0"/>
              <a:t>4</a:t>
            </a:r>
            <a:r>
              <a:rPr lang="ko-KR" altLang="en-US" dirty="0"/>
              <a:t>개파트는 꼭 필요한 </a:t>
            </a:r>
            <a:r>
              <a:rPr lang="en-US" altLang="ko-KR" dirty="0"/>
              <a:t>1~2</a:t>
            </a:r>
            <a:r>
              <a:rPr lang="ko-KR" altLang="en-US" dirty="0"/>
              <a:t>명으로 운영하고 있고 국내 </a:t>
            </a:r>
            <a:r>
              <a:rPr lang="en-US" altLang="ko-KR" dirty="0"/>
              <a:t>RA </a:t>
            </a:r>
            <a:r>
              <a:rPr lang="ko-KR" altLang="en-US" dirty="0"/>
              <a:t>파트는 </a:t>
            </a:r>
            <a:r>
              <a:rPr lang="en-US" altLang="ko-KR" dirty="0"/>
              <a:t>9</a:t>
            </a:r>
            <a:r>
              <a:rPr lang="ko-KR" altLang="en-US" dirty="0"/>
              <a:t>명이 </a:t>
            </a:r>
            <a:r>
              <a:rPr lang="ko-KR" altLang="en-US" dirty="0" err="1"/>
              <a:t>잉글</a:t>
            </a:r>
            <a:r>
              <a:rPr lang="en-US" altLang="ko-KR" dirty="0"/>
              <a:t>, </a:t>
            </a:r>
            <a:r>
              <a:rPr lang="ko-KR" altLang="en-US" dirty="0"/>
              <a:t>메카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</a:t>
            </a:r>
            <a:r>
              <a:rPr lang="en-US" altLang="ko-KR" dirty="0"/>
              <a:t>, </a:t>
            </a:r>
            <a:r>
              <a:rPr lang="ko-KR" altLang="en-US" dirty="0"/>
              <a:t>규제검토 업무를 진행하고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/>
              <a:t>개년동안 인원은 지속적으로 감소한 반면</a:t>
            </a:r>
            <a:r>
              <a:rPr lang="en-US" altLang="ko-KR" dirty="0"/>
              <a:t>, </a:t>
            </a:r>
            <a:r>
              <a:rPr lang="ko-KR" altLang="en-US" dirty="0"/>
              <a:t>문안검토 횟수증가</a:t>
            </a:r>
            <a:r>
              <a:rPr lang="en-US" altLang="ko-KR" dirty="0"/>
              <a:t>, </a:t>
            </a:r>
            <a:r>
              <a:rPr lang="ko-KR" altLang="en-US" dirty="0"/>
              <a:t>규제검토요청 </a:t>
            </a:r>
            <a:r>
              <a:rPr lang="ko-KR" altLang="en-US" dirty="0" err="1"/>
              <a:t>수출국갯수</a:t>
            </a:r>
            <a:r>
              <a:rPr lang="ko-KR" altLang="en-US" dirty="0"/>
              <a:t> 증가</a:t>
            </a:r>
            <a:r>
              <a:rPr lang="en-US" altLang="ko-KR" dirty="0"/>
              <a:t>, </a:t>
            </a:r>
            <a:r>
              <a:rPr lang="ko-KR" altLang="en-US" dirty="0"/>
              <a:t>비건</a:t>
            </a:r>
            <a:r>
              <a:rPr lang="en-US" altLang="ko-KR" dirty="0"/>
              <a:t>, </a:t>
            </a:r>
            <a:r>
              <a:rPr lang="ko-KR" altLang="en-US" dirty="0" err="1"/>
              <a:t>할랄</a:t>
            </a:r>
            <a:r>
              <a:rPr lang="ko-KR" altLang="en-US" dirty="0"/>
              <a:t> 인증서비스 대행 및 고객사 플랫폼에 정보</a:t>
            </a:r>
            <a:r>
              <a:rPr lang="en-US" altLang="ko-KR" dirty="0"/>
              <a:t>,</a:t>
            </a:r>
            <a:r>
              <a:rPr lang="ko-KR" altLang="en-US" dirty="0"/>
              <a:t>문서 등록하는 업무가 추가 되었고</a:t>
            </a:r>
            <a:endParaRPr lang="en-US" altLang="ko-KR" dirty="0"/>
          </a:p>
          <a:p>
            <a:r>
              <a:rPr lang="ko-KR" altLang="en-US" dirty="0"/>
              <a:t>최근 중국 </a:t>
            </a:r>
            <a:r>
              <a:rPr lang="en-US" altLang="ko-KR" dirty="0" err="1"/>
              <a:t>nmpa</a:t>
            </a:r>
            <a:r>
              <a:rPr lang="ko-KR" altLang="en-US" dirty="0"/>
              <a:t>등록</a:t>
            </a:r>
            <a:r>
              <a:rPr lang="en-US" altLang="ko-KR" dirty="0"/>
              <a:t>, </a:t>
            </a:r>
            <a:r>
              <a:rPr lang="ko-KR" altLang="en-US" dirty="0"/>
              <a:t>추출물 용매분리 등으로 기존 제품에 대한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 재확인 등의 업무가 증가하였습니다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8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574A5-22A7-CA13-F3A2-4FC014A66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3B65B4-6E71-705F-6ADB-644953B2F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71C6D0-5305-9DA2-169E-26428A625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규제연구팀은 총 </a:t>
            </a:r>
            <a:r>
              <a:rPr lang="en-US" altLang="ko-KR" dirty="0"/>
              <a:t>5</a:t>
            </a:r>
            <a:r>
              <a:rPr lang="ko-KR" altLang="en-US" dirty="0"/>
              <a:t>개 파트에서 </a:t>
            </a:r>
            <a:r>
              <a:rPr lang="en-US" altLang="ko-KR" dirty="0"/>
              <a:t>4</a:t>
            </a:r>
            <a:r>
              <a:rPr lang="ko-KR" altLang="en-US" dirty="0"/>
              <a:t>개파트는 꼭 필요한 </a:t>
            </a:r>
            <a:r>
              <a:rPr lang="en-US" altLang="ko-KR" dirty="0"/>
              <a:t>1~2</a:t>
            </a:r>
            <a:r>
              <a:rPr lang="ko-KR" altLang="en-US" dirty="0"/>
              <a:t>명으로 운영하고 있고 국내 </a:t>
            </a:r>
            <a:r>
              <a:rPr lang="en-US" altLang="ko-KR" dirty="0"/>
              <a:t>RA </a:t>
            </a:r>
            <a:r>
              <a:rPr lang="ko-KR" altLang="en-US" dirty="0"/>
              <a:t>파트는 </a:t>
            </a:r>
            <a:r>
              <a:rPr lang="en-US" altLang="ko-KR" dirty="0"/>
              <a:t>9</a:t>
            </a:r>
            <a:r>
              <a:rPr lang="ko-KR" altLang="en-US" dirty="0"/>
              <a:t>명이 </a:t>
            </a:r>
            <a:r>
              <a:rPr lang="ko-KR" altLang="en-US" dirty="0" err="1"/>
              <a:t>잉글</a:t>
            </a:r>
            <a:r>
              <a:rPr lang="en-US" altLang="ko-KR" dirty="0"/>
              <a:t>, </a:t>
            </a:r>
            <a:r>
              <a:rPr lang="ko-KR" altLang="en-US" dirty="0"/>
              <a:t>메카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</a:t>
            </a:r>
            <a:r>
              <a:rPr lang="en-US" altLang="ko-KR" dirty="0"/>
              <a:t>, </a:t>
            </a:r>
            <a:r>
              <a:rPr lang="ko-KR" altLang="en-US" dirty="0"/>
              <a:t>규제검토 업무를 진행하고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/>
              <a:t>개년동안 인원은 지속적으로 감소한 반면</a:t>
            </a:r>
            <a:r>
              <a:rPr lang="en-US" altLang="ko-KR" dirty="0"/>
              <a:t>, </a:t>
            </a:r>
            <a:r>
              <a:rPr lang="ko-KR" altLang="en-US" dirty="0"/>
              <a:t>문안검토 횟수증가</a:t>
            </a:r>
            <a:r>
              <a:rPr lang="en-US" altLang="ko-KR" dirty="0"/>
              <a:t>, </a:t>
            </a:r>
            <a:r>
              <a:rPr lang="ko-KR" altLang="en-US" dirty="0"/>
              <a:t>규제검토요청 </a:t>
            </a:r>
            <a:r>
              <a:rPr lang="ko-KR" altLang="en-US" dirty="0" err="1"/>
              <a:t>수출국갯수</a:t>
            </a:r>
            <a:r>
              <a:rPr lang="ko-KR" altLang="en-US" dirty="0"/>
              <a:t> 증가</a:t>
            </a:r>
            <a:r>
              <a:rPr lang="en-US" altLang="ko-KR" dirty="0"/>
              <a:t>, </a:t>
            </a:r>
            <a:r>
              <a:rPr lang="ko-KR" altLang="en-US" dirty="0"/>
              <a:t>비건</a:t>
            </a:r>
            <a:r>
              <a:rPr lang="en-US" altLang="ko-KR" dirty="0"/>
              <a:t>, </a:t>
            </a:r>
            <a:r>
              <a:rPr lang="ko-KR" altLang="en-US" dirty="0" err="1"/>
              <a:t>할랄</a:t>
            </a:r>
            <a:r>
              <a:rPr lang="ko-KR" altLang="en-US" dirty="0"/>
              <a:t> 인증서비스 대행 및 고객사 플랫폼에 정보</a:t>
            </a:r>
            <a:r>
              <a:rPr lang="en-US" altLang="ko-KR" dirty="0"/>
              <a:t>,</a:t>
            </a:r>
            <a:r>
              <a:rPr lang="ko-KR" altLang="en-US" dirty="0"/>
              <a:t>문서 등록하는 업무가 추가 되었고</a:t>
            </a:r>
            <a:endParaRPr lang="en-US" altLang="ko-KR" dirty="0"/>
          </a:p>
          <a:p>
            <a:r>
              <a:rPr lang="ko-KR" altLang="en-US" dirty="0"/>
              <a:t>최근 중국 </a:t>
            </a:r>
            <a:r>
              <a:rPr lang="en-US" altLang="ko-KR" dirty="0" err="1"/>
              <a:t>nmpa</a:t>
            </a:r>
            <a:r>
              <a:rPr lang="ko-KR" altLang="en-US" dirty="0"/>
              <a:t>등록</a:t>
            </a:r>
            <a:r>
              <a:rPr lang="en-US" altLang="ko-KR" dirty="0"/>
              <a:t>, </a:t>
            </a:r>
            <a:r>
              <a:rPr lang="ko-KR" altLang="en-US" dirty="0"/>
              <a:t>추출물 용매분리 등으로 기존 제품에 대한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 재확인 등의 업무가 증가하였습니다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958511-C85A-B737-9C57-A0E0F79E9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339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2ADD4-7BC4-5505-1FE3-EFABEFB28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F95016-C0E8-D6D5-74E3-41FADE1B6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9F72ED-690F-8892-D3A5-0DFAC33B6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규제연구팀은 총 </a:t>
            </a:r>
            <a:r>
              <a:rPr lang="en-US" altLang="ko-KR" dirty="0"/>
              <a:t>5</a:t>
            </a:r>
            <a:r>
              <a:rPr lang="ko-KR" altLang="en-US" dirty="0"/>
              <a:t>개 파트에서 </a:t>
            </a:r>
            <a:r>
              <a:rPr lang="en-US" altLang="ko-KR" dirty="0"/>
              <a:t>4</a:t>
            </a:r>
            <a:r>
              <a:rPr lang="ko-KR" altLang="en-US" dirty="0"/>
              <a:t>개파트는 꼭 필요한 </a:t>
            </a:r>
            <a:r>
              <a:rPr lang="en-US" altLang="ko-KR" dirty="0"/>
              <a:t>1~2</a:t>
            </a:r>
            <a:r>
              <a:rPr lang="ko-KR" altLang="en-US" dirty="0"/>
              <a:t>명으로 운영하고 있고 국내 </a:t>
            </a:r>
            <a:r>
              <a:rPr lang="en-US" altLang="ko-KR" dirty="0"/>
              <a:t>RA </a:t>
            </a:r>
            <a:r>
              <a:rPr lang="ko-KR" altLang="en-US" dirty="0"/>
              <a:t>파트는 </a:t>
            </a:r>
            <a:r>
              <a:rPr lang="en-US" altLang="ko-KR" dirty="0"/>
              <a:t>9</a:t>
            </a:r>
            <a:r>
              <a:rPr lang="ko-KR" altLang="en-US" dirty="0"/>
              <a:t>명이 </a:t>
            </a:r>
            <a:r>
              <a:rPr lang="ko-KR" altLang="en-US" dirty="0" err="1"/>
              <a:t>잉글</a:t>
            </a:r>
            <a:r>
              <a:rPr lang="en-US" altLang="ko-KR" dirty="0"/>
              <a:t>, </a:t>
            </a:r>
            <a:r>
              <a:rPr lang="ko-KR" altLang="en-US" dirty="0"/>
              <a:t>메카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</a:t>
            </a:r>
            <a:r>
              <a:rPr lang="en-US" altLang="ko-KR" dirty="0"/>
              <a:t>, </a:t>
            </a:r>
            <a:r>
              <a:rPr lang="ko-KR" altLang="en-US" dirty="0"/>
              <a:t>규제검토 업무를 진행하고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/>
              <a:t>개년동안 인원은 지속적으로 감소한 반면</a:t>
            </a:r>
            <a:r>
              <a:rPr lang="en-US" altLang="ko-KR" dirty="0"/>
              <a:t>, </a:t>
            </a:r>
            <a:r>
              <a:rPr lang="ko-KR" altLang="en-US" dirty="0"/>
              <a:t>문안검토 횟수증가</a:t>
            </a:r>
            <a:r>
              <a:rPr lang="en-US" altLang="ko-KR" dirty="0"/>
              <a:t>, </a:t>
            </a:r>
            <a:r>
              <a:rPr lang="ko-KR" altLang="en-US" dirty="0"/>
              <a:t>규제검토요청 </a:t>
            </a:r>
            <a:r>
              <a:rPr lang="ko-KR" altLang="en-US" dirty="0" err="1"/>
              <a:t>수출국갯수</a:t>
            </a:r>
            <a:r>
              <a:rPr lang="ko-KR" altLang="en-US" dirty="0"/>
              <a:t> 증가</a:t>
            </a:r>
            <a:r>
              <a:rPr lang="en-US" altLang="ko-KR" dirty="0"/>
              <a:t>, </a:t>
            </a:r>
            <a:r>
              <a:rPr lang="ko-KR" altLang="en-US" dirty="0"/>
              <a:t>비건</a:t>
            </a:r>
            <a:r>
              <a:rPr lang="en-US" altLang="ko-KR" dirty="0"/>
              <a:t>, </a:t>
            </a:r>
            <a:r>
              <a:rPr lang="ko-KR" altLang="en-US" dirty="0" err="1"/>
              <a:t>할랄</a:t>
            </a:r>
            <a:r>
              <a:rPr lang="ko-KR" altLang="en-US" dirty="0"/>
              <a:t> 인증서비스 대행 및 고객사 플랫폼에 정보</a:t>
            </a:r>
            <a:r>
              <a:rPr lang="en-US" altLang="ko-KR" dirty="0"/>
              <a:t>,</a:t>
            </a:r>
            <a:r>
              <a:rPr lang="ko-KR" altLang="en-US" dirty="0"/>
              <a:t>문서 등록하는 업무가 추가 되었고</a:t>
            </a:r>
            <a:endParaRPr lang="en-US" altLang="ko-KR" dirty="0"/>
          </a:p>
          <a:p>
            <a:r>
              <a:rPr lang="ko-KR" altLang="en-US" dirty="0"/>
              <a:t>최근 중국 </a:t>
            </a:r>
            <a:r>
              <a:rPr lang="en-US" altLang="ko-KR" dirty="0" err="1"/>
              <a:t>nmpa</a:t>
            </a:r>
            <a:r>
              <a:rPr lang="ko-KR" altLang="en-US" dirty="0"/>
              <a:t>등록</a:t>
            </a:r>
            <a:r>
              <a:rPr lang="en-US" altLang="ko-KR" dirty="0"/>
              <a:t>, </a:t>
            </a:r>
            <a:r>
              <a:rPr lang="ko-KR" altLang="en-US" dirty="0"/>
              <a:t>추출물 용매분리 등으로 기존 제품에 대한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 재확인 등의 업무가 증가하였습니다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5599DE-D9CD-42B1-A6A5-DBD6ECA1E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527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34BE3-FF2B-BEF7-034E-9D04985A7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B983E-7D35-1A6A-01E7-F6FEE5CFA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FA1408-13D3-5138-09E2-08B06A8E3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규제연구팀은 총 </a:t>
            </a:r>
            <a:r>
              <a:rPr lang="en-US" altLang="ko-KR" dirty="0"/>
              <a:t>5</a:t>
            </a:r>
            <a:r>
              <a:rPr lang="ko-KR" altLang="en-US" dirty="0"/>
              <a:t>개 파트에서 </a:t>
            </a:r>
            <a:r>
              <a:rPr lang="en-US" altLang="ko-KR" dirty="0"/>
              <a:t>4</a:t>
            </a:r>
            <a:r>
              <a:rPr lang="ko-KR" altLang="en-US" dirty="0"/>
              <a:t>개파트는 꼭 필요한 </a:t>
            </a:r>
            <a:r>
              <a:rPr lang="en-US" altLang="ko-KR" dirty="0"/>
              <a:t>1~2</a:t>
            </a:r>
            <a:r>
              <a:rPr lang="ko-KR" altLang="en-US" dirty="0"/>
              <a:t>명으로 운영하고 있고 국내 </a:t>
            </a:r>
            <a:r>
              <a:rPr lang="en-US" altLang="ko-KR" dirty="0"/>
              <a:t>RA </a:t>
            </a:r>
            <a:r>
              <a:rPr lang="ko-KR" altLang="en-US" dirty="0"/>
              <a:t>파트는 </a:t>
            </a:r>
            <a:r>
              <a:rPr lang="en-US" altLang="ko-KR" dirty="0"/>
              <a:t>9</a:t>
            </a:r>
            <a:r>
              <a:rPr lang="ko-KR" altLang="en-US" dirty="0"/>
              <a:t>명이 </a:t>
            </a:r>
            <a:r>
              <a:rPr lang="ko-KR" altLang="en-US" dirty="0" err="1"/>
              <a:t>잉글</a:t>
            </a:r>
            <a:r>
              <a:rPr lang="en-US" altLang="ko-KR" dirty="0"/>
              <a:t>, </a:t>
            </a:r>
            <a:r>
              <a:rPr lang="ko-KR" altLang="en-US" dirty="0"/>
              <a:t>메카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</a:t>
            </a:r>
            <a:r>
              <a:rPr lang="en-US" altLang="ko-KR" dirty="0"/>
              <a:t>, </a:t>
            </a:r>
            <a:r>
              <a:rPr lang="ko-KR" altLang="en-US" dirty="0"/>
              <a:t>규제검토 업무를 진행하고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/>
              <a:t>개년동안 인원은 지속적으로 감소한 반면</a:t>
            </a:r>
            <a:r>
              <a:rPr lang="en-US" altLang="ko-KR" dirty="0"/>
              <a:t>, </a:t>
            </a:r>
            <a:r>
              <a:rPr lang="ko-KR" altLang="en-US" dirty="0"/>
              <a:t>문안검토 횟수증가</a:t>
            </a:r>
            <a:r>
              <a:rPr lang="en-US" altLang="ko-KR" dirty="0"/>
              <a:t>, </a:t>
            </a:r>
            <a:r>
              <a:rPr lang="ko-KR" altLang="en-US" dirty="0"/>
              <a:t>규제검토요청 </a:t>
            </a:r>
            <a:r>
              <a:rPr lang="ko-KR" altLang="en-US" dirty="0" err="1"/>
              <a:t>수출국갯수</a:t>
            </a:r>
            <a:r>
              <a:rPr lang="ko-KR" altLang="en-US" dirty="0"/>
              <a:t> 증가</a:t>
            </a:r>
            <a:r>
              <a:rPr lang="en-US" altLang="ko-KR" dirty="0"/>
              <a:t>, </a:t>
            </a:r>
            <a:r>
              <a:rPr lang="ko-KR" altLang="en-US" dirty="0"/>
              <a:t>비건</a:t>
            </a:r>
            <a:r>
              <a:rPr lang="en-US" altLang="ko-KR" dirty="0"/>
              <a:t>, </a:t>
            </a:r>
            <a:r>
              <a:rPr lang="ko-KR" altLang="en-US" dirty="0" err="1"/>
              <a:t>할랄</a:t>
            </a:r>
            <a:r>
              <a:rPr lang="ko-KR" altLang="en-US" dirty="0"/>
              <a:t> 인증서비스 대행 및 고객사 플랫폼에 정보</a:t>
            </a:r>
            <a:r>
              <a:rPr lang="en-US" altLang="ko-KR" dirty="0"/>
              <a:t>,</a:t>
            </a:r>
            <a:r>
              <a:rPr lang="ko-KR" altLang="en-US" dirty="0"/>
              <a:t>문서 등록하는 업무가 추가 되었고</a:t>
            </a:r>
            <a:endParaRPr lang="en-US" altLang="ko-KR" dirty="0"/>
          </a:p>
          <a:p>
            <a:r>
              <a:rPr lang="ko-KR" altLang="en-US" dirty="0"/>
              <a:t>최근 중국 </a:t>
            </a:r>
            <a:r>
              <a:rPr lang="en-US" altLang="ko-KR" dirty="0" err="1"/>
              <a:t>nmpa</a:t>
            </a:r>
            <a:r>
              <a:rPr lang="ko-KR" altLang="en-US" dirty="0"/>
              <a:t>등록</a:t>
            </a:r>
            <a:r>
              <a:rPr lang="en-US" altLang="ko-KR" dirty="0"/>
              <a:t>, </a:t>
            </a:r>
            <a:r>
              <a:rPr lang="ko-KR" altLang="en-US" dirty="0"/>
              <a:t>추출물 용매분리 등으로 기존 제품에 대한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 재확인 등의 업무가 증가하였습니다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748DA0-C01C-E009-E437-376A2B3A3A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1443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12C7-A0C1-75E6-08F3-F99B64DAA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E3412A-6D2C-6562-3432-17C0DF070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7E5355-654C-D7AE-C810-64B4A0C4E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규제연구팀은 총 </a:t>
            </a:r>
            <a:r>
              <a:rPr lang="en-US" altLang="ko-KR" dirty="0"/>
              <a:t>5</a:t>
            </a:r>
            <a:r>
              <a:rPr lang="ko-KR" altLang="en-US" dirty="0"/>
              <a:t>개 파트에서 </a:t>
            </a:r>
            <a:r>
              <a:rPr lang="en-US" altLang="ko-KR" dirty="0"/>
              <a:t>4</a:t>
            </a:r>
            <a:r>
              <a:rPr lang="ko-KR" altLang="en-US" dirty="0"/>
              <a:t>개파트는 꼭 필요한 </a:t>
            </a:r>
            <a:r>
              <a:rPr lang="en-US" altLang="ko-KR" dirty="0"/>
              <a:t>1~2</a:t>
            </a:r>
            <a:r>
              <a:rPr lang="ko-KR" altLang="en-US" dirty="0"/>
              <a:t>명으로 운영하고 있고 국내 </a:t>
            </a:r>
            <a:r>
              <a:rPr lang="en-US" altLang="ko-KR" dirty="0"/>
              <a:t>RA </a:t>
            </a:r>
            <a:r>
              <a:rPr lang="ko-KR" altLang="en-US" dirty="0"/>
              <a:t>파트는 </a:t>
            </a:r>
            <a:r>
              <a:rPr lang="en-US" altLang="ko-KR" dirty="0"/>
              <a:t>9</a:t>
            </a:r>
            <a:r>
              <a:rPr lang="ko-KR" altLang="en-US" dirty="0"/>
              <a:t>명이 </a:t>
            </a:r>
            <a:r>
              <a:rPr lang="ko-KR" altLang="en-US" dirty="0" err="1"/>
              <a:t>잉글</a:t>
            </a:r>
            <a:r>
              <a:rPr lang="en-US" altLang="ko-KR" dirty="0"/>
              <a:t>, </a:t>
            </a:r>
            <a:r>
              <a:rPr lang="ko-KR" altLang="en-US" dirty="0"/>
              <a:t>메카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</a:t>
            </a:r>
            <a:r>
              <a:rPr lang="en-US" altLang="ko-KR" dirty="0"/>
              <a:t>, </a:t>
            </a:r>
            <a:r>
              <a:rPr lang="ko-KR" altLang="en-US" dirty="0"/>
              <a:t>규제검토 업무를 진행하고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/>
              <a:t>개년동안 인원은 지속적으로 감소한 반면</a:t>
            </a:r>
            <a:r>
              <a:rPr lang="en-US" altLang="ko-KR" dirty="0"/>
              <a:t>, </a:t>
            </a:r>
            <a:r>
              <a:rPr lang="ko-KR" altLang="en-US" dirty="0"/>
              <a:t>문안검토 횟수증가</a:t>
            </a:r>
            <a:r>
              <a:rPr lang="en-US" altLang="ko-KR" dirty="0"/>
              <a:t>, </a:t>
            </a:r>
            <a:r>
              <a:rPr lang="ko-KR" altLang="en-US" dirty="0"/>
              <a:t>규제검토요청 </a:t>
            </a:r>
            <a:r>
              <a:rPr lang="ko-KR" altLang="en-US" dirty="0" err="1"/>
              <a:t>수출국갯수</a:t>
            </a:r>
            <a:r>
              <a:rPr lang="ko-KR" altLang="en-US" dirty="0"/>
              <a:t> 증가</a:t>
            </a:r>
            <a:r>
              <a:rPr lang="en-US" altLang="ko-KR" dirty="0"/>
              <a:t>, </a:t>
            </a:r>
            <a:r>
              <a:rPr lang="ko-KR" altLang="en-US" dirty="0"/>
              <a:t>비건</a:t>
            </a:r>
            <a:r>
              <a:rPr lang="en-US" altLang="ko-KR" dirty="0"/>
              <a:t>, </a:t>
            </a:r>
            <a:r>
              <a:rPr lang="ko-KR" altLang="en-US" dirty="0" err="1"/>
              <a:t>할랄</a:t>
            </a:r>
            <a:r>
              <a:rPr lang="ko-KR" altLang="en-US" dirty="0"/>
              <a:t> 인증서비스 대행 및 고객사 플랫폼에 정보</a:t>
            </a:r>
            <a:r>
              <a:rPr lang="en-US" altLang="ko-KR" dirty="0"/>
              <a:t>,</a:t>
            </a:r>
            <a:r>
              <a:rPr lang="ko-KR" altLang="en-US" dirty="0"/>
              <a:t>문서 등록하는 업무가 추가 되었고</a:t>
            </a:r>
            <a:endParaRPr lang="en-US" altLang="ko-KR" dirty="0"/>
          </a:p>
          <a:p>
            <a:r>
              <a:rPr lang="ko-KR" altLang="en-US" dirty="0"/>
              <a:t>최근 중국 </a:t>
            </a:r>
            <a:r>
              <a:rPr lang="en-US" altLang="ko-KR" dirty="0" err="1"/>
              <a:t>nmpa</a:t>
            </a:r>
            <a:r>
              <a:rPr lang="ko-KR" altLang="en-US" dirty="0"/>
              <a:t>등록</a:t>
            </a:r>
            <a:r>
              <a:rPr lang="en-US" altLang="ko-KR" dirty="0"/>
              <a:t>, </a:t>
            </a:r>
            <a:r>
              <a:rPr lang="ko-KR" altLang="en-US" dirty="0"/>
              <a:t>추출물 용매분리 등으로 기존 제품에 대한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 재확인 등의 업무가 증가하였습니다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625189-11B8-9921-E973-5E6FF1291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790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2000B-0E3C-3884-D037-DE603AEE0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86F70F-772E-8BDD-9521-623F9AFE1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C6C8B7-CB27-1433-99D4-025DE670E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규제연구팀은 총 </a:t>
            </a:r>
            <a:r>
              <a:rPr lang="en-US" altLang="ko-KR" dirty="0"/>
              <a:t>5</a:t>
            </a:r>
            <a:r>
              <a:rPr lang="ko-KR" altLang="en-US" dirty="0"/>
              <a:t>개 파트에서 </a:t>
            </a:r>
            <a:r>
              <a:rPr lang="en-US" altLang="ko-KR" dirty="0"/>
              <a:t>4</a:t>
            </a:r>
            <a:r>
              <a:rPr lang="ko-KR" altLang="en-US" dirty="0"/>
              <a:t>개파트는 꼭 필요한 </a:t>
            </a:r>
            <a:r>
              <a:rPr lang="en-US" altLang="ko-KR" dirty="0"/>
              <a:t>1~2</a:t>
            </a:r>
            <a:r>
              <a:rPr lang="ko-KR" altLang="en-US" dirty="0"/>
              <a:t>명으로 운영하고 있고 국내 </a:t>
            </a:r>
            <a:r>
              <a:rPr lang="en-US" altLang="ko-KR" dirty="0"/>
              <a:t>RA </a:t>
            </a:r>
            <a:r>
              <a:rPr lang="ko-KR" altLang="en-US" dirty="0"/>
              <a:t>파트는 </a:t>
            </a:r>
            <a:r>
              <a:rPr lang="en-US" altLang="ko-KR" dirty="0"/>
              <a:t>9</a:t>
            </a:r>
            <a:r>
              <a:rPr lang="ko-KR" altLang="en-US" dirty="0"/>
              <a:t>명이 </a:t>
            </a:r>
            <a:r>
              <a:rPr lang="ko-KR" altLang="en-US" dirty="0" err="1"/>
              <a:t>잉글</a:t>
            </a:r>
            <a:r>
              <a:rPr lang="en-US" altLang="ko-KR" dirty="0"/>
              <a:t>, </a:t>
            </a:r>
            <a:r>
              <a:rPr lang="ko-KR" altLang="en-US" dirty="0"/>
              <a:t>메카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</a:t>
            </a:r>
            <a:r>
              <a:rPr lang="en-US" altLang="ko-KR" dirty="0"/>
              <a:t>, </a:t>
            </a:r>
            <a:r>
              <a:rPr lang="ko-KR" altLang="en-US" dirty="0"/>
              <a:t>규제검토 업무를 진행하고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/>
              <a:t>개년동안 인원은 지속적으로 감소한 반면</a:t>
            </a:r>
            <a:r>
              <a:rPr lang="en-US" altLang="ko-KR" dirty="0"/>
              <a:t>, </a:t>
            </a:r>
            <a:r>
              <a:rPr lang="ko-KR" altLang="en-US" dirty="0"/>
              <a:t>문안검토 횟수증가</a:t>
            </a:r>
            <a:r>
              <a:rPr lang="en-US" altLang="ko-KR" dirty="0"/>
              <a:t>, </a:t>
            </a:r>
            <a:r>
              <a:rPr lang="ko-KR" altLang="en-US" dirty="0"/>
              <a:t>규제검토요청 </a:t>
            </a:r>
            <a:r>
              <a:rPr lang="ko-KR" altLang="en-US" dirty="0" err="1"/>
              <a:t>수출국갯수</a:t>
            </a:r>
            <a:r>
              <a:rPr lang="ko-KR" altLang="en-US" dirty="0"/>
              <a:t> 증가</a:t>
            </a:r>
            <a:r>
              <a:rPr lang="en-US" altLang="ko-KR" dirty="0"/>
              <a:t>, </a:t>
            </a:r>
            <a:r>
              <a:rPr lang="ko-KR" altLang="en-US" dirty="0"/>
              <a:t>비건</a:t>
            </a:r>
            <a:r>
              <a:rPr lang="en-US" altLang="ko-KR" dirty="0"/>
              <a:t>, </a:t>
            </a:r>
            <a:r>
              <a:rPr lang="ko-KR" altLang="en-US" dirty="0" err="1"/>
              <a:t>할랄</a:t>
            </a:r>
            <a:r>
              <a:rPr lang="ko-KR" altLang="en-US" dirty="0"/>
              <a:t> 인증서비스 대행 및 고객사 플랫폼에 정보</a:t>
            </a:r>
            <a:r>
              <a:rPr lang="en-US" altLang="ko-KR" dirty="0"/>
              <a:t>,</a:t>
            </a:r>
            <a:r>
              <a:rPr lang="ko-KR" altLang="en-US" dirty="0"/>
              <a:t>문서 등록하는 업무가 추가 되었고</a:t>
            </a:r>
            <a:endParaRPr lang="en-US" altLang="ko-KR" dirty="0"/>
          </a:p>
          <a:p>
            <a:r>
              <a:rPr lang="ko-KR" altLang="en-US" dirty="0"/>
              <a:t>최근 중국 </a:t>
            </a:r>
            <a:r>
              <a:rPr lang="en-US" altLang="ko-KR" dirty="0" err="1"/>
              <a:t>nmpa</a:t>
            </a:r>
            <a:r>
              <a:rPr lang="ko-KR" altLang="en-US" dirty="0"/>
              <a:t>등록</a:t>
            </a:r>
            <a:r>
              <a:rPr lang="en-US" altLang="ko-KR" dirty="0"/>
              <a:t>, </a:t>
            </a:r>
            <a:r>
              <a:rPr lang="ko-KR" altLang="en-US" dirty="0"/>
              <a:t>추출물 용매분리 등으로 기존 제품에 대한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 재확인 등의 업무가 증가하였습니다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21DC70-69B7-A9E5-2A16-4315F83D4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027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06869-E38E-CAE2-4A6C-AF82C53BE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D9467B-1CE2-22C9-69DA-AD198A274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15C23-BC68-949C-0E26-66A3CFC5A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규제연구팀은 총 </a:t>
            </a:r>
            <a:r>
              <a:rPr lang="en-US" altLang="ko-KR" dirty="0"/>
              <a:t>5</a:t>
            </a:r>
            <a:r>
              <a:rPr lang="ko-KR" altLang="en-US" dirty="0"/>
              <a:t>개 파트에서 </a:t>
            </a:r>
            <a:r>
              <a:rPr lang="en-US" altLang="ko-KR" dirty="0"/>
              <a:t>4</a:t>
            </a:r>
            <a:r>
              <a:rPr lang="ko-KR" altLang="en-US" dirty="0"/>
              <a:t>개파트는 꼭 필요한 </a:t>
            </a:r>
            <a:r>
              <a:rPr lang="en-US" altLang="ko-KR" dirty="0"/>
              <a:t>1~2</a:t>
            </a:r>
            <a:r>
              <a:rPr lang="ko-KR" altLang="en-US" dirty="0"/>
              <a:t>명으로 운영하고 있고 국내 </a:t>
            </a:r>
            <a:r>
              <a:rPr lang="en-US" altLang="ko-KR" dirty="0"/>
              <a:t>RA </a:t>
            </a:r>
            <a:r>
              <a:rPr lang="ko-KR" altLang="en-US" dirty="0"/>
              <a:t>파트는 </a:t>
            </a:r>
            <a:r>
              <a:rPr lang="en-US" altLang="ko-KR" dirty="0"/>
              <a:t>9</a:t>
            </a:r>
            <a:r>
              <a:rPr lang="ko-KR" altLang="en-US" dirty="0"/>
              <a:t>명이 </a:t>
            </a:r>
            <a:r>
              <a:rPr lang="ko-KR" altLang="en-US" dirty="0" err="1"/>
              <a:t>잉글</a:t>
            </a:r>
            <a:r>
              <a:rPr lang="en-US" altLang="ko-KR" dirty="0"/>
              <a:t>, </a:t>
            </a:r>
            <a:r>
              <a:rPr lang="ko-KR" altLang="en-US" dirty="0"/>
              <a:t>메카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</a:t>
            </a:r>
            <a:r>
              <a:rPr lang="en-US" altLang="ko-KR" dirty="0"/>
              <a:t>, </a:t>
            </a:r>
            <a:r>
              <a:rPr lang="ko-KR" altLang="en-US" dirty="0"/>
              <a:t>규제검토 업무를 진행하고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/>
              <a:t>개년동안 인원은 지속적으로 감소한 반면</a:t>
            </a:r>
            <a:r>
              <a:rPr lang="en-US" altLang="ko-KR" dirty="0"/>
              <a:t>, </a:t>
            </a:r>
            <a:r>
              <a:rPr lang="ko-KR" altLang="en-US" dirty="0"/>
              <a:t>문안검토 횟수증가</a:t>
            </a:r>
            <a:r>
              <a:rPr lang="en-US" altLang="ko-KR" dirty="0"/>
              <a:t>, </a:t>
            </a:r>
            <a:r>
              <a:rPr lang="ko-KR" altLang="en-US" dirty="0"/>
              <a:t>규제검토요청 </a:t>
            </a:r>
            <a:r>
              <a:rPr lang="ko-KR" altLang="en-US" dirty="0" err="1"/>
              <a:t>수출국갯수</a:t>
            </a:r>
            <a:r>
              <a:rPr lang="ko-KR" altLang="en-US" dirty="0"/>
              <a:t> 증가</a:t>
            </a:r>
            <a:r>
              <a:rPr lang="en-US" altLang="ko-KR" dirty="0"/>
              <a:t>, </a:t>
            </a:r>
            <a:r>
              <a:rPr lang="ko-KR" altLang="en-US" dirty="0"/>
              <a:t>비건</a:t>
            </a:r>
            <a:r>
              <a:rPr lang="en-US" altLang="ko-KR" dirty="0"/>
              <a:t>, </a:t>
            </a:r>
            <a:r>
              <a:rPr lang="ko-KR" altLang="en-US" dirty="0" err="1"/>
              <a:t>할랄</a:t>
            </a:r>
            <a:r>
              <a:rPr lang="ko-KR" altLang="en-US" dirty="0"/>
              <a:t> 인증서비스 대행 및 고객사 플랫폼에 정보</a:t>
            </a:r>
            <a:r>
              <a:rPr lang="en-US" altLang="ko-KR" dirty="0"/>
              <a:t>,</a:t>
            </a:r>
            <a:r>
              <a:rPr lang="ko-KR" altLang="en-US" dirty="0"/>
              <a:t>문서 등록하는 업무가 추가 되었고</a:t>
            </a:r>
            <a:endParaRPr lang="en-US" altLang="ko-KR" dirty="0"/>
          </a:p>
          <a:p>
            <a:r>
              <a:rPr lang="ko-KR" altLang="en-US" dirty="0"/>
              <a:t>최근 중국 </a:t>
            </a:r>
            <a:r>
              <a:rPr lang="en-US" altLang="ko-KR" dirty="0" err="1"/>
              <a:t>nmpa</a:t>
            </a:r>
            <a:r>
              <a:rPr lang="ko-KR" altLang="en-US" dirty="0"/>
              <a:t>등록</a:t>
            </a:r>
            <a:r>
              <a:rPr lang="en-US" altLang="ko-KR" dirty="0"/>
              <a:t>, </a:t>
            </a:r>
            <a:r>
              <a:rPr lang="ko-KR" altLang="en-US" dirty="0"/>
              <a:t>추출물 용매분리 등으로 기존 제품에 대한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 재확인 등의 업무가 증가하였습니다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A2FCD2-3BD4-2DAF-968E-430FC7871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201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DE01B-CD55-D2E9-6308-952DDB601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68E4DD-025C-FDB2-E6CE-17280B62C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AC26BD-9AB0-5CD1-72FB-70968AAD2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규제연구팀은 총 </a:t>
            </a:r>
            <a:r>
              <a:rPr lang="en-US" altLang="ko-KR" dirty="0"/>
              <a:t>5</a:t>
            </a:r>
            <a:r>
              <a:rPr lang="ko-KR" altLang="en-US" dirty="0"/>
              <a:t>개 파트에서 </a:t>
            </a:r>
            <a:r>
              <a:rPr lang="en-US" altLang="ko-KR" dirty="0"/>
              <a:t>4</a:t>
            </a:r>
            <a:r>
              <a:rPr lang="ko-KR" altLang="en-US" dirty="0"/>
              <a:t>개파트는 꼭 필요한 </a:t>
            </a:r>
            <a:r>
              <a:rPr lang="en-US" altLang="ko-KR" dirty="0"/>
              <a:t>1~2</a:t>
            </a:r>
            <a:r>
              <a:rPr lang="ko-KR" altLang="en-US" dirty="0"/>
              <a:t>명으로 운영하고 있고 국내 </a:t>
            </a:r>
            <a:r>
              <a:rPr lang="en-US" altLang="ko-KR" dirty="0"/>
              <a:t>RA </a:t>
            </a:r>
            <a:r>
              <a:rPr lang="ko-KR" altLang="en-US" dirty="0"/>
              <a:t>파트는 </a:t>
            </a:r>
            <a:r>
              <a:rPr lang="en-US" altLang="ko-KR" dirty="0"/>
              <a:t>9</a:t>
            </a:r>
            <a:r>
              <a:rPr lang="ko-KR" altLang="en-US" dirty="0"/>
              <a:t>명이 </a:t>
            </a:r>
            <a:r>
              <a:rPr lang="ko-KR" altLang="en-US" dirty="0" err="1"/>
              <a:t>잉글</a:t>
            </a:r>
            <a:r>
              <a:rPr lang="en-US" altLang="ko-KR" dirty="0"/>
              <a:t>, </a:t>
            </a:r>
            <a:r>
              <a:rPr lang="ko-KR" altLang="en-US" dirty="0"/>
              <a:t>메카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</a:t>
            </a:r>
            <a:r>
              <a:rPr lang="en-US" altLang="ko-KR" dirty="0"/>
              <a:t>, </a:t>
            </a:r>
            <a:r>
              <a:rPr lang="ko-KR" altLang="en-US" dirty="0"/>
              <a:t>규제검토 업무를 진행하고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/>
              <a:t>개년동안 인원은 지속적으로 감소한 반면</a:t>
            </a:r>
            <a:r>
              <a:rPr lang="en-US" altLang="ko-KR" dirty="0"/>
              <a:t>, </a:t>
            </a:r>
            <a:r>
              <a:rPr lang="ko-KR" altLang="en-US" dirty="0"/>
              <a:t>문안검토 횟수증가</a:t>
            </a:r>
            <a:r>
              <a:rPr lang="en-US" altLang="ko-KR" dirty="0"/>
              <a:t>, </a:t>
            </a:r>
            <a:r>
              <a:rPr lang="ko-KR" altLang="en-US" dirty="0"/>
              <a:t>규제검토요청 </a:t>
            </a:r>
            <a:r>
              <a:rPr lang="ko-KR" altLang="en-US" dirty="0" err="1"/>
              <a:t>수출국갯수</a:t>
            </a:r>
            <a:r>
              <a:rPr lang="ko-KR" altLang="en-US" dirty="0"/>
              <a:t> 증가</a:t>
            </a:r>
            <a:r>
              <a:rPr lang="en-US" altLang="ko-KR" dirty="0"/>
              <a:t>, </a:t>
            </a:r>
            <a:r>
              <a:rPr lang="ko-KR" altLang="en-US" dirty="0"/>
              <a:t>비건</a:t>
            </a:r>
            <a:r>
              <a:rPr lang="en-US" altLang="ko-KR" dirty="0"/>
              <a:t>, </a:t>
            </a:r>
            <a:r>
              <a:rPr lang="ko-KR" altLang="en-US" dirty="0" err="1"/>
              <a:t>할랄</a:t>
            </a:r>
            <a:r>
              <a:rPr lang="ko-KR" altLang="en-US" dirty="0"/>
              <a:t> 인증서비스 대행 및 고객사 플랫폼에 정보</a:t>
            </a:r>
            <a:r>
              <a:rPr lang="en-US" altLang="ko-KR" dirty="0"/>
              <a:t>,</a:t>
            </a:r>
            <a:r>
              <a:rPr lang="ko-KR" altLang="en-US" dirty="0"/>
              <a:t>문서 등록하는 업무가 추가 되었고</a:t>
            </a:r>
            <a:endParaRPr lang="en-US" altLang="ko-KR" dirty="0"/>
          </a:p>
          <a:p>
            <a:r>
              <a:rPr lang="ko-KR" altLang="en-US" dirty="0"/>
              <a:t>최근 중국 </a:t>
            </a:r>
            <a:r>
              <a:rPr lang="en-US" altLang="ko-KR" dirty="0" err="1"/>
              <a:t>nmpa</a:t>
            </a:r>
            <a:r>
              <a:rPr lang="ko-KR" altLang="en-US" dirty="0"/>
              <a:t>등록</a:t>
            </a:r>
            <a:r>
              <a:rPr lang="en-US" altLang="ko-KR" dirty="0"/>
              <a:t>, </a:t>
            </a:r>
            <a:r>
              <a:rPr lang="ko-KR" altLang="en-US" dirty="0"/>
              <a:t>추출물 용매분리 등으로 기존 제품에 대한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 재확인 등의 업무가 증가하였습니다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9F11BA-8784-73E1-4D4E-9E4B94146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0312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9956B-E61C-A8D7-B481-2359926FA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AB31B1-0437-13A2-1B31-191AC52CC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7A7862-169B-38A9-46FC-DA93D48F1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규제연구팀은 총 </a:t>
            </a:r>
            <a:r>
              <a:rPr lang="en-US" altLang="ko-KR" dirty="0"/>
              <a:t>5</a:t>
            </a:r>
            <a:r>
              <a:rPr lang="ko-KR" altLang="en-US" dirty="0"/>
              <a:t>개 파트에서 </a:t>
            </a:r>
            <a:r>
              <a:rPr lang="en-US" altLang="ko-KR" dirty="0"/>
              <a:t>4</a:t>
            </a:r>
            <a:r>
              <a:rPr lang="ko-KR" altLang="en-US" dirty="0"/>
              <a:t>개파트는 꼭 필요한 </a:t>
            </a:r>
            <a:r>
              <a:rPr lang="en-US" altLang="ko-KR" dirty="0"/>
              <a:t>1~2</a:t>
            </a:r>
            <a:r>
              <a:rPr lang="ko-KR" altLang="en-US" dirty="0"/>
              <a:t>명으로 운영하고 있고 국내 </a:t>
            </a:r>
            <a:r>
              <a:rPr lang="en-US" altLang="ko-KR" dirty="0"/>
              <a:t>RA </a:t>
            </a:r>
            <a:r>
              <a:rPr lang="ko-KR" altLang="en-US" dirty="0"/>
              <a:t>파트는 </a:t>
            </a:r>
            <a:r>
              <a:rPr lang="en-US" altLang="ko-KR" dirty="0"/>
              <a:t>9</a:t>
            </a:r>
            <a:r>
              <a:rPr lang="ko-KR" altLang="en-US" dirty="0"/>
              <a:t>명이 </a:t>
            </a:r>
            <a:r>
              <a:rPr lang="ko-KR" altLang="en-US" dirty="0" err="1"/>
              <a:t>잉글</a:t>
            </a:r>
            <a:r>
              <a:rPr lang="en-US" altLang="ko-KR" dirty="0"/>
              <a:t>, </a:t>
            </a:r>
            <a:r>
              <a:rPr lang="ko-KR" altLang="en-US" dirty="0"/>
              <a:t>메카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</a:t>
            </a:r>
            <a:r>
              <a:rPr lang="en-US" altLang="ko-KR" dirty="0"/>
              <a:t>, </a:t>
            </a:r>
            <a:r>
              <a:rPr lang="ko-KR" altLang="en-US" dirty="0"/>
              <a:t>규제검토 업무를 진행하고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/>
              <a:t>개년동안 인원은 지속적으로 감소한 반면</a:t>
            </a:r>
            <a:r>
              <a:rPr lang="en-US" altLang="ko-KR" dirty="0"/>
              <a:t>, </a:t>
            </a:r>
            <a:r>
              <a:rPr lang="ko-KR" altLang="en-US" dirty="0"/>
              <a:t>문안검토 횟수증가</a:t>
            </a:r>
            <a:r>
              <a:rPr lang="en-US" altLang="ko-KR" dirty="0"/>
              <a:t>, </a:t>
            </a:r>
            <a:r>
              <a:rPr lang="ko-KR" altLang="en-US" dirty="0"/>
              <a:t>규제검토요청 </a:t>
            </a:r>
            <a:r>
              <a:rPr lang="ko-KR" altLang="en-US" dirty="0" err="1"/>
              <a:t>수출국갯수</a:t>
            </a:r>
            <a:r>
              <a:rPr lang="ko-KR" altLang="en-US" dirty="0"/>
              <a:t> 증가</a:t>
            </a:r>
            <a:r>
              <a:rPr lang="en-US" altLang="ko-KR" dirty="0"/>
              <a:t>, </a:t>
            </a:r>
            <a:r>
              <a:rPr lang="ko-KR" altLang="en-US" dirty="0"/>
              <a:t>비건</a:t>
            </a:r>
            <a:r>
              <a:rPr lang="en-US" altLang="ko-KR" dirty="0"/>
              <a:t>, </a:t>
            </a:r>
            <a:r>
              <a:rPr lang="ko-KR" altLang="en-US" dirty="0" err="1"/>
              <a:t>할랄</a:t>
            </a:r>
            <a:r>
              <a:rPr lang="ko-KR" altLang="en-US" dirty="0"/>
              <a:t> 인증서비스 대행 및 고객사 플랫폼에 정보</a:t>
            </a:r>
            <a:r>
              <a:rPr lang="en-US" altLang="ko-KR" dirty="0"/>
              <a:t>,</a:t>
            </a:r>
            <a:r>
              <a:rPr lang="ko-KR" altLang="en-US" dirty="0"/>
              <a:t>문서 등록하는 업무가 추가 되었고</a:t>
            </a:r>
            <a:endParaRPr lang="en-US" altLang="ko-KR" dirty="0"/>
          </a:p>
          <a:p>
            <a:r>
              <a:rPr lang="ko-KR" altLang="en-US" dirty="0"/>
              <a:t>최근 중국 </a:t>
            </a:r>
            <a:r>
              <a:rPr lang="en-US" altLang="ko-KR" dirty="0" err="1"/>
              <a:t>nmpa</a:t>
            </a:r>
            <a:r>
              <a:rPr lang="ko-KR" altLang="en-US" dirty="0"/>
              <a:t>등록</a:t>
            </a:r>
            <a:r>
              <a:rPr lang="en-US" altLang="ko-KR" dirty="0"/>
              <a:t>, </a:t>
            </a:r>
            <a:r>
              <a:rPr lang="ko-KR" altLang="en-US" dirty="0"/>
              <a:t>추출물 용매분리 등으로 기존 제품에 대한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 재확인 등의 업무가 증가하였습니다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A42309-DFF4-04E4-71B1-B640729998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2371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7906-DDA3-BBD8-9BD9-58810464A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4F5DEF-9D88-3381-44F1-EAF2DA28E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CBCEC3-8821-5FCA-994E-2EC0EF445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규제연구팀은 총 </a:t>
            </a:r>
            <a:r>
              <a:rPr lang="en-US" altLang="ko-KR" dirty="0"/>
              <a:t>5</a:t>
            </a:r>
            <a:r>
              <a:rPr lang="ko-KR" altLang="en-US" dirty="0"/>
              <a:t>개 파트에서 </a:t>
            </a:r>
            <a:r>
              <a:rPr lang="en-US" altLang="ko-KR" dirty="0"/>
              <a:t>4</a:t>
            </a:r>
            <a:r>
              <a:rPr lang="ko-KR" altLang="en-US" dirty="0"/>
              <a:t>개파트는 꼭 필요한 </a:t>
            </a:r>
            <a:r>
              <a:rPr lang="en-US" altLang="ko-KR" dirty="0"/>
              <a:t>1~2</a:t>
            </a:r>
            <a:r>
              <a:rPr lang="ko-KR" altLang="en-US" dirty="0"/>
              <a:t>명으로 운영하고 있고 국내 </a:t>
            </a:r>
            <a:r>
              <a:rPr lang="en-US" altLang="ko-KR" dirty="0"/>
              <a:t>RA </a:t>
            </a:r>
            <a:r>
              <a:rPr lang="ko-KR" altLang="en-US" dirty="0"/>
              <a:t>파트는 </a:t>
            </a:r>
            <a:r>
              <a:rPr lang="en-US" altLang="ko-KR" dirty="0"/>
              <a:t>9</a:t>
            </a:r>
            <a:r>
              <a:rPr lang="ko-KR" altLang="en-US" dirty="0"/>
              <a:t>명이 </a:t>
            </a:r>
            <a:r>
              <a:rPr lang="ko-KR" altLang="en-US" dirty="0" err="1"/>
              <a:t>잉글</a:t>
            </a:r>
            <a:r>
              <a:rPr lang="en-US" altLang="ko-KR" dirty="0"/>
              <a:t>, </a:t>
            </a:r>
            <a:r>
              <a:rPr lang="ko-KR" altLang="en-US" dirty="0"/>
              <a:t>메카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</a:t>
            </a:r>
            <a:r>
              <a:rPr lang="en-US" altLang="ko-KR" dirty="0"/>
              <a:t>, </a:t>
            </a:r>
            <a:r>
              <a:rPr lang="ko-KR" altLang="en-US" dirty="0"/>
              <a:t>규제검토 업무를 진행하고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/>
              <a:t>개년동안 인원은 지속적으로 감소한 반면</a:t>
            </a:r>
            <a:r>
              <a:rPr lang="en-US" altLang="ko-KR" dirty="0"/>
              <a:t>, </a:t>
            </a:r>
            <a:r>
              <a:rPr lang="ko-KR" altLang="en-US" dirty="0"/>
              <a:t>문안검토 횟수증가</a:t>
            </a:r>
            <a:r>
              <a:rPr lang="en-US" altLang="ko-KR" dirty="0"/>
              <a:t>, </a:t>
            </a:r>
            <a:r>
              <a:rPr lang="ko-KR" altLang="en-US" dirty="0"/>
              <a:t>규제검토요청 </a:t>
            </a:r>
            <a:r>
              <a:rPr lang="ko-KR" altLang="en-US" dirty="0" err="1"/>
              <a:t>수출국갯수</a:t>
            </a:r>
            <a:r>
              <a:rPr lang="ko-KR" altLang="en-US" dirty="0"/>
              <a:t> 증가</a:t>
            </a:r>
            <a:r>
              <a:rPr lang="en-US" altLang="ko-KR" dirty="0"/>
              <a:t>, </a:t>
            </a:r>
            <a:r>
              <a:rPr lang="ko-KR" altLang="en-US" dirty="0"/>
              <a:t>비건</a:t>
            </a:r>
            <a:r>
              <a:rPr lang="en-US" altLang="ko-KR" dirty="0"/>
              <a:t>, </a:t>
            </a:r>
            <a:r>
              <a:rPr lang="ko-KR" altLang="en-US" dirty="0" err="1"/>
              <a:t>할랄</a:t>
            </a:r>
            <a:r>
              <a:rPr lang="ko-KR" altLang="en-US" dirty="0"/>
              <a:t> 인증서비스 대행 및 고객사 플랫폼에 정보</a:t>
            </a:r>
            <a:r>
              <a:rPr lang="en-US" altLang="ko-KR" dirty="0"/>
              <a:t>,</a:t>
            </a:r>
            <a:r>
              <a:rPr lang="ko-KR" altLang="en-US" dirty="0"/>
              <a:t>문서 등록하는 업무가 추가 되었고</a:t>
            </a:r>
            <a:endParaRPr lang="en-US" altLang="ko-KR" dirty="0"/>
          </a:p>
          <a:p>
            <a:r>
              <a:rPr lang="ko-KR" altLang="en-US" dirty="0"/>
              <a:t>최근 중국 </a:t>
            </a:r>
            <a:r>
              <a:rPr lang="en-US" altLang="ko-KR" dirty="0" err="1"/>
              <a:t>nmpa</a:t>
            </a:r>
            <a:r>
              <a:rPr lang="ko-KR" altLang="en-US" dirty="0"/>
              <a:t>등록</a:t>
            </a:r>
            <a:r>
              <a:rPr lang="en-US" altLang="ko-KR" dirty="0"/>
              <a:t>, </a:t>
            </a:r>
            <a:r>
              <a:rPr lang="ko-KR" altLang="en-US" dirty="0"/>
              <a:t>추출물 용매분리 등으로 기존 제품에 대한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 재확인 등의 업무가 증가하였습니다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03F495-7CA3-C46C-D56D-C053414D8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7525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1937D-D02E-3E32-DB74-D6E3762B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C3499E-3360-F7AD-38A7-13B3B57A7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809E54-4910-2524-3D38-4EE0EFEF9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규제연구팀은 총 </a:t>
            </a:r>
            <a:r>
              <a:rPr lang="en-US" altLang="ko-KR" dirty="0"/>
              <a:t>5</a:t>
            </a:r>
            <a:r>
              <a:rPr lang="ko-KR" altLang="en-US" dirty="0"/>
              <a:t>개 파트에서 </a:t>
            </a:r>
            <a:r>
              <a:rPr lang="en-US" altLang="ko-KR" dirty="0"/>
              <a:t>4</a:t>
            </a:r>
            <a:r>
              <a:rPr lang="ko-KR" altLang="en-US" dirty="0"/>
              <a:t>개파트는 꼭 필요한 </a:t>
            </a:r>
            <a:r>
              <a:rPr lang="en-US" altLang="ko-KR" dirty="0"/>
              <a:t>1~2</a:t>
            </a:r>
            <a:r>
              <a:rPr lang="ko-KR" altLang="en-US" dirty="0"/>
              <a:t>명으로 운영하고 있고 국내 </a:t>
            </a:r>
            <a:r>
              <a:rPr lang="en-US" altLang="ko-KR" dirty="0"/>
              <a:t>RA </a:t>
            </a:r>
            <a:r>
              <a:rPr lang="ko-KR" altLang="en-US" dirty="0"/>
              <a:t>파트는 </a:t>
            </a:r>
            <a:r>
              <a:rPr lang="en-US" altLang="ko-KR" dirty="0"/>
              <a:t>9</a:t>
            </a:r>
            <a:r>
              <a:rPr lang="ko-KR" altLang="en-US" dirty="0"/>
              <a:t>명이 </a:t>
            </a:r>
            <a:r>
              <a:rPr lang="ko-KR" altLang="en-US" dirty="0" err="1"/>
              <a:t>잉글</a:t>
            </a:r>
            <a:r>
              <a:rPr lang="en-US" altLang="ko-KR" dirty="0"/>
              <a:t>, </a:t>
            </a:r>
            <a:r>
              <a:rPr lang="ko-KR" altLang="en-US" dirty="0"/>
              <a:t>메카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</a:t>
            </a:r>
            <a:r>
              <a:rPr lang="en-US" altLang="ko-KR" dirty="0"/>
              <a:t>, </a:t>
            </a:r>
            <a:r>
              <a:rPr lang="ko-KR" altLang="en-US" dirty="0"/>
              <a:t>규제검토 업무를 진행하고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/>
              <a:t>개년동안 인원은 지속적으로 감소한 반면</a:t>
            </a:r>
            <a:r>
              <a:rPr lang="en-US" altLang="ko-KR" dirty="0"/>
              <a:t>, </a:t>
            </a:r>
            <a:r>
              <a:rPr lang="ko-KR" altLang="en-US" dirty="0"/>
              <a:t>문안검토 횟수증가</a:t>
            </a:r>
            <a:r>
              <a:rPr lang="en-US" altLang="ko-KR" dirty="0"/>
              <a:t>, </a:t>
            </a:r>
            <a:r>
              <a:rPr lang="ko-KR" altLang="en-US" dirty="0"/>
              <a:t>규제검토요청 </a:t>
            </a:r>
            <a:r>
              <a:rPr lang="ko-KR" altLang="en-US" dirty="0" err="1"/>
              <a:t>수출국갯수</a:t>
            </a:r>
            <a:r>
              <a:rPr lang="ko-KR" altLang="en-US" dirty="0"/>
              <a:t> 증가</a:t>
            </a:r>
            <a:r>
              <a:rPr lang="en-US" altLang="ko-KR" dirty="0"/>
              <a:t>, </a:t>
            </a:r>
            <a:r>
              <a:rPr lang="ko-KR" altLang="en-US" dirty="0"/>
              <a:t>비건</a:t>
            </a:r>
            <a:r>
              <a:rPr lang="en-US" altLang="ko-KR" dirty="0"/>
              <a:t>, </a:t>
            </a:r>
            <a:r>
              <a:rPr lang="ko-KR" altLang="en-US" dirty="0" err="1"/>
              <a:t>할랄</a:t>
            </a:r>
            <a:r>
              <a:rPr lang="ko-KR" altLang="en-US" dirty="0"/>
              <a:t> 인증서비스 대행 및 고객사 플랫폼에 정보</a:t>
            </a:r>
            <a:r>
              <a:rPr lang="en-US" altLang="ko-KR" dirty="0"/>
              <a:t>,</a:t>
            </a:r>
            <a:r>
              <a:rPr lang="ko-KR" altLang="en-US" dirty="0"/>
              <a:t>문서 등록하는 업무가 추가 되었고</a:t>
            </a:r>
            <a:endParaRPr lang="en-US" altLang="ko-KR" dirty="0"/>
          </a:p>
          <a:p>
            <a:r>
              <a:rPr lang="ko-KR" altLang="en-US" dirty="0"/>
              <a:t>최근 중국 </a:t>
            </a:r>
            <a:r>
              <a:rPr lang="en-US" altLang="ko-KR" dirty="0" err="1"/>
              <a:t>nmpa</a:t>
            </a:r>
            <a:r>
              <a:rPr lang="ko-KR" altLang="en-US" dirty="0"/>
              <a:t>등록</a:t>
            </a:r>
            <a:r>
              <a:rPr lang="en-US" altLang="ko-KR" dirty="0"/>
              <a:t>, </a:t>
            </a:r>
            <a:r>
              <a:rPr lang="ko-KR" altLang="en-US" dirty="0"/>
              <a:t>추출물 용매분리 등으로 기존 제품에 대한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 재확인 등의 업무가 증가하였습니다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3DE806-2B30-9F74-4442-6E06C2E3B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2868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30BBE-C424-AB77-365C-C1FA7AFE4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685DCB-D84D-60CA-64F0-C3E830AF4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B30379-ABB6-BF4C-7A82-E550BECD2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규제연구팀은 총 </a:t>
            </a:r>
            <a:r>
              <a:rPr lang="en-US" altLang="ko-KR" dirty="0"/>
              <a:t>5</a:t>
            </a:r>
            <a:r>
              <a:rPr lang="ko-KR" altLang="en-US" dirty="0"/>
              <a:t>개 파트에서 </a:t>
            </a:r>
            <a:r>
              <a:rPr lang="en-US" altLang="ko-KR" dirty="0"/>
              <a:t>4</a:t>
            </a:r>
            <a:r>
              <a:rPr lang="ko-KR" altLang="en-US" dirty="0"/>
              <a:t>개파트는 꼭 필요한 </a:t>
            </a:r>
            <a:r>
              <a:rPr lang="en-US" altLang="ko-KR" dirty="0"/>
              <a:t>1~2</a:t>
            </a:r>
            <a:r>
              <a:rPr lang="ko-KR" altLang="en-US" dirty="0"/>
              <a:t>명으로 운영하고 있고 국내 </a:t>
            </a:r>
            <a:r>
              <a:rPr lang="en-US" altLang="ko-KR" dirty="0"/>
              <a:t>RA </a:t>
            </a:r>
            <a:r>
              <a:rPr lang="ko-KR" altLang="en-US" dirty="0"/>
              <a:t>파트는 </a:t>
            </a:r>
            <a:r>
              <a:rPr lang="en-US" altLang="ko-KR" dirty="0"/>
              <a:t>9</a:t>
            </a:r>
            <a:r>
              <a:rPr lang="ko-KR" altLang="en-US" dirty="0"/>
              <a:t>명이 </a:t>
            </a:r>
            <a:r>
              <a:rPr lang="ko-KR" altLang="en-US" dirty="0" err="1"/>
              <a:t>잉글</a:t>
            </a:r>
            <a:r>
              <a:rPr lang="en-US" altLang="ko-KR" dirty="0"/>
              <a:t>, </a:t>
            </a:r>
            <a:r>
              <a:rPr lang="ko-KR" altLang="en-US" dirty="0"/>
              <a:t>메카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</a:t>
            </a:r>
            <a:r>
              <a:rPr lang="en-US" altLang="ko-KR" dirty="0"/>
              <a:t>, </a:t>
            </a:r>
            <a:r>
              <a:rPr lang="ko-KR" altLang="en-US" dirty="0"/>
              <a:t>규제검토 업무를 진행하고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/>
              <a:t>개년동안 인원은 지속적으로 감소한 반면</a:t>
            </a:r>
            <a:r>
              <a:rPr lang="en-US" altLang="ko-KR" dirty="0"/>
              <a:t>, </a:t>
            </a:r>
            <a:r>
              <a:rPr lang="ko-KR" altLang="en-US" dirty="0"/>
              <a:t>문안검토 횟수증가</a:t>
            </a:r>
            <a:r>
              <a:rPr lang="en-US" altLang="ko-KR" dirty="0"/>
              <a:t>, </a:t>
            </a:r>
            <a:r>
              <a:rPr lang="ko-KR" altLang="en-US" dirty="0"/>
              <a:t>규제검토요청 </a:t>
            </a:r>
            <a:r>
              <a:rPr lang="ko-KR" altLang="en-US" dirty="0" err="1"/>
              <a:t>수출국갯수</a:t>
            </a:r>
            <a:r>
              <a:rPr lang="ko-KR" altLang="en-US" dirty="0"/>
              <a:t> 증가</a:t>
            </a:r>
            <a:r>
              <a:rPr lang="en-US" altLang="ko-KR" dirty="0"/>
              <a:t>, </a:t>
            </a:r>
            <a:r>
              <a:rPr lang="ko-KR" altLang="en-US" dirty="0"/>
              <a:t>비건</a:t>
            </a:r>
            <a:r>
              <a:rPr lang="en-US" altLang="ko-KR" dirty="0"/>
              <a:t>, </a:t>
            </a:r>
            <a:r>
              <a:rPr lang="ko-KR" altLang="en-US" dirty="0" err="1"/>
              <a:t>할랄</a:t>
            </a:r>
            <a:r>
              <a:rPr lang="ko-KR" altLang="en-US" dirty="0"/>
              <a:t> 인증서비스 대행 및 고객사 플랫폼에 정보</a:t>
            </a:r>
            <a:r>
              <a:rPr lang="en-US" altLang="ko-KR" dirty="0"/>
              <a:t>,</a:t>
            </a:r>
            <a:r>
              <a:rPr lang="ko-KR" altLang="en-US" dirty="0"/>
              <a:t>문서 등록하는 업무가 추가 되었고</a:t>
            </a:r>
            <a:endParaRPr lang="en-US" altLang="ko-KR" dirty="0"/>
          </a:p>
          <a:p>
            <a:r>
              <a:rPr lang="ko-KR" altLang="en-US" dirty="0"/>
              <a:t>최근 중국 </a:t>
            </a:r>
            <a:r>
              <a:rPr lang="en-US" altLang="ko-KR" dirty="0" err="1"/>
              <a:t>nmpa</a:t>
            </a:r>
            <a:r>
              <a:rPr lang="ko-KR" altLang="en-US" dirty="0"/>
              <a:t>등록</a:t>
            </a:r>
            <a:r>
              <a:rPr lang="en-US" altLang="ko-KR" dirty="0"/>
              <a:t>, </a:t>
            </a:r>
            <a:r>
              <a:rPr lang="ko-KR" altLang="en-US" dirty="0"/>
              <a:t>추출물 용매분리 등으로 기존 제품에 대한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 재확인 등의 업무가 증가하였습니다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979573-E63F-E9B5-A986-130CA857C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8535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98A82-46D6-A743-0CEF-C358EB261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C2F3E1-1EFA-A008-F51C-FC05AD28B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773783-A4C9-3D3C-25A1-2D3861CCB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규제연구팀은 총 </a:t>
            </a:r>
            <a:r>
              <a:rPr lang="en-US" altLang="ko-KR" dirty="0"/>
              <a:t>5</a:t>
            </a:r>
            <a:r>
              <a:rPr lang="ko-KR" altLang="en-US" dirty="0"/>
              <a:t>개 파트에서 </a:t>
            </a:r>
            <a:r>
              <a:rPr lang="en-US" altLang="ko-KR" dirty="0"/>
              <a:t>4</a:t>
            </a:r>
            <a:r>
              <a:rPr lang="ko-KR" altLang="en-US" dirty="0"/>
              <a:t>개파트는 꼭 필요한 </a:t>
            </a:r>
            <a:r>
              <a:rPr lang="en-US" altLang="ko-KR" dirty="0"/>
              <a:t>1~2</a:t>
            </a:r>
            <a:r>
              <a:rPr lang="ko-KR" altLang="en-US" dirty="0"/>
              <a:t>명으로 운영하고 있고 국내 </a:t>
            </a:r>
            <a:r>
              <a:rPr lang="en-US" altLang="ko-KR" dirty="0"/>
              <a:t>RA </a:t>
            </a:r>
            <a:r>
              <a:rPr lang="ko-KR" altLang="en-US" dirty="0"/>
              <a:t>파트는 </a:t>
            </a:r>
            <a:r>
              <a:rPr lang="en-US" altLang="ko-KR" dirty="0"/>
              <a:t>9</a:t>
            </a:r>
            <a:r>
              <a:rPr lang="ko-KR" altLang="en-US" dirty="0"/>
              <a:t>명이 </a:t>
            </a:r>
            <a:r>
              <a:rPr lang="ko-KR" altLang="en-US" dirty="0" err="1"/>
              <a:t>잉글</a:t>
            </a:r>
            <a:r>
              <a:rPr lang="en-US" altLang="ko-KR" dirty="0"/>
              <a:t>, </a:t>
            </a:r>
            <a:r>
              <a:rPr lang="ko-KR" altLang="en-US" dirty="0"/>
              <a:t>메카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</a:t>
            </a:r>
            <a:r>
              <a:rPr lang="en-US" altLang="ko-KR" dirty="0"/>
              <a:t>, </a:t>
            </a:r>
            <a:r>
              <a:rPr lang="ko-KR" altLang="en-US" dirty="0"/>
              <a:t>규제검토 업무를 진행하고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/>
              <a:t>개년동안 인원은 지속적으로 감소한 반면</a:t>
            </a:r>
            <a:r>
              <a:rPr lang="en-US" altLang="ko-KR" dirty="0"/>
              <a:t>, </a:t>
            </a:r>
            <a:r>
              <a:rPr lang="ko-KR" altLang="en-US" dirty="0"/>
              <a:t>문안검토 횟수증가</a:t>
            </a:r>
            <a:r>
              <a:rPr lang="en-US" altLang="ko-KR" dirty="0"/>
              <a:t>, </a:t>
            </a:r>
            <a:r>
              <a:rPr lang="ko-KR" altLang="en-US" dirty="0"/>
              <a:t>규제검토요청 </a:t>
            </a:r>
            <a:r>
              <a:rPr lang="ko-KR" altLang="en-US" dirty="0" err="1"/>
              <a:t>수출국갯수</a:t>
            </a:r>
            <a:r>
              <a:rPr lang="ko-KR" altLang="en-US" dirty="0"/>
              <a:t> 증가</a:t>
            </a:r>
            <a:r>
              <a:rPr lang="en-US" altLang="ko-KR" dirty="0"/>
              <a:t>, </a:t>
            </a:r>
            <a:r>
              <a:rPr lang="ko-KR" altLang="en-US" dirty="0"/>
              <a:t>비건</a:t>
            </a:r>
            <a:r>
              <a:rPr lang="en-US" altLang="ko-KR" dirty="0"/>
              <a:t>, </a:t>
            </a:r>
            <a:r>
              <a:rPr lang="ko-KR" altLang="en-US" dirty="0" err="1"/>
              <a:t>할랄</a:t>
            </a:r>
            <a:r>
              <a:rPr lang="ko-KR" altLang="en-US" dirty="0"/>
              <a:t> 인증서비스 대행 및 고객사 플랫폼에 정보</a:t>
            </a:r>
            <a:r>
              <a:rPr lang="en-US" altLang="ko-KR" dirty="0"/>
              <a:t>,</a:t>
            </a:r>
            <a:r>
              <a:rPr lang="ko-KR" altLang="en-US" dirty="0"/>
              <a:t>문서 등록하는 업무가 추가 되었고</a:t>
            </a:r>
            <a:endParaRPr lang="en-US" altLang="ko-KR" dirty="0"/>
          </a:p>
          <a:p>
            <a:r>
              <a:rPr lang="ko-KR" altLang="en-US" dirty="0"/>
              <a:t>최근 중국 </a:t>
            </a:r>
            <a:r>
              <a:rPr lang="en-US" altLang="ko-KR" dirty="0" err="1"/>
              <a:t>nmpa</a:t>
            </a:r>
            <a:r>
              <a:rPr lang="ko-KR" altLang="en-US" dirty="0"/>
              <a:t>등록</a:t>
            </a:r>
            <a:r>
              <a:rPr lang="en-US" altLang="ko-KR" dirty="0"/>
              <a:t>, </a:t>
            </a:r>
            <a:r>
              <a:rPr lang="ko-KR" altLang="en-US" dirty="0"/>
              <a:t>추출물 용매분리 등으로 기존 제품에 대한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 재확인 등의 업무가 증가하였습니다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61D42-D4A5-39C7-670B-899FA4422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219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1F492-8E25-0D34-ED47-E293969C0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1E802E-387B-1A8D-780B-D8551E20C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4A83A8-B856-7693-D8C7-23BA18E8E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규제연구팀은 총 </a:t>
            </a:r>
            <a:r>
              <a:rPr lang="en-US" altLang="ko-KR" dirty="0"/>
              <a:t>5</a:t>
            </a:r>
            <a:r>
              <a:rPr lang="ko-KR" altLang="en-US" dirty="0"/>
              <a:t>개 파트에서 </a:t>
            </a:r>
            <a:r>
              <a:rPr lang="en-US" altLang="ko-KR" dirty="0"/>
              <a:t>4</a:t>
            </a:r>
            <a:r>
              <a:rPr lang="ko-KR" altLang="en-US" dirty="0"/>
              <a:t>개파트는 꼭 필요한 </a:t>
            </a:r>
            <a:r>
              <a:rPr lang="en-US" altLang="ko-KR" dirty="0"/>
              <a:t>1~2</a:t>
            </a:r>
            <a:r>
              <a:rPr lang="ko-KR" altLang="en-US" dirty="0"/>
              <a:t>명으로 운영하고 있고 국내 </a:t>
            </a:r>
            <a:r>
              <a:rPr lang="en-US" altLang="ko-KR" dirty="0"/>
              <a:t>RA </a:t>
            </a:r>
            <a:r>
              <a:rPr lang="ko-KR" altLang="en-US" dirty="0"/>
              <a:t>파트는 </a:t>
            </a:r>
            <a:r>
              <a:rPr lang="en-US" altLang="ko-KR" dirty="0"/>
              <a:t>9</a:t>
            </a:r>
            <a:r>
              <a:rPr lang="ko-KR" altLang="en-US" dirty="0"/>
              <a:t>명이 </a:t>
            </a:r>
            <a:r>
              <a:rPr lang="ko-KR" altLang="en-US" dirty="0" err="1"/>
              <a:t>잉글</a:t>
            </a:r>
            <a:r>
              <a:rPr lang="en-US" altLang="ko-KR" dirty="0"/>
              <a:t>, </a:t>
            </a:r>
            <a:r>
              <a:rPr lang="ko-KR" altLang="en-US" dirty="0"/>
              <a:t>메카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</a:t>
            </a:r>
            <a:r>
              <a:rPr lang="en-US" altLang="ko-KR" dirty="0"/>
              <a:t>, </a:t>
            </a:r>
            <a:r>
              <a:rPr lang="ko-KR" altLang="en-US" dirty="0"/>
              <a:t>규제검토 업무를 진행하고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/>
              <a:t>개년동안 인원은 지속적으로 감소한 반면</a:t>
            </a:r>
            <a:r>
              <a:rPr lang="en-US" altLang="ko-KR" dirty="0"/>
              <a:t>, </a:t>
            </a:r>
            <a:r>
              <a:rPr lang="ko-KR" altLang="en-US" dirty="0"/>
              <a:t>문안검토 횟수증가</a:t>
            </a:r>
            <a:r>
              <a:rPr lang="en-US" altLang="ko-KR" dirty="0"/>
              <a:t>, </a:t>
            </a:r>
            <a:r>
              <a:rPr lang="ko-KR" altLang="en-US" dirty="0"/>
              <a:t>규제검토요청 </a:t>
            </a:r>
            <a:r>
              <a:rPr lang="ko-KR" altLang="en-US" dirty="0" err="1"/>
              <a:t>수출국갯수</a:t>
            </a:r>
            <a:r>
              <a:rPr lang="ko-KR" altLang="en-US" dirty="0"/>
              <a:t> 증가</a:t>
            </a:r>
            <a:r>
              <a:rPr lang="en-US" altLang="ko-KR" dirty="0"/>
              <a:t>, </a:t>
            </a:r>
            <a:r>
              <a:rPr lang="ko-KR" altLang="en-US" dirty="0"/>
              <a:t>비건</a:t>
            </a:r>
            <a:r>
              <a:rPr lang="en-US" altLang="ko-KR" dirty="0"/>
              <a:t>, </a:t>
            </a:r>
            <a:r>
              <a:rPr lang="ko-KR" altLang="en-US" dirty="0" err="1"/>
              <a:t>할랄</a:t>
            </a:r>
            <a:r>
              <a:rPr lang="ko-KR" altLang="en-US" dirty="0"/>
              <a:t> 인증서비스 대행 및 고객사 플랫폼에 정보</a:t>
            </a:r>
            <a:r>
              <a:rPr lang="en-US" altLang="ko-KR" dirty="0"/>
              <a:t>,</a:t>
            </a:r>
            <a:r>
              <a:rPr lang="ko-KR" altLang="en-US" dirty="0"/>
              <a:t>문서 등록하는 업무가 추가 되었고</a:t>
            </a:r>
            <a:endParaRPr lang="en-US" altLang="ko-KR" dirty="0"/>
          </a:p>
          <a:p>
            <a:r>
              <a:rPr lang="ko-KR" altLang="en-US" dirty="0"/>
              <a:t>최근 중국 </a:t>
            </a:r>
            <a:r>
              <a:rPr lang="en-US" altLang="ko-KR" dirty="0" err="1"/>
              <a:t>nmpa</a:t>
            </a:r>
            <a:r>
              <a:rPr lang="ko-KR" altLang="en-US" dirty="0"/>
              <a:t>등록</a:t>
            </a:r>
            <a:r>
              <a:rPr lang="en-US" altLang="ko-KR" dirty="0"/>
              <a:t>, </a:t>
            </a:r>
            <a:r>
              <a:rPr lang="ko-KR" altLang="en-US" dirty="0"/>
              <a:t>추출물 용매분리 등으로 기존 제품에 대한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 재확인 등의 업무가 증가하였습니다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B7994F-E4DC-814F-1FE7-0306A00A9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4735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45424-1E64-4E68-5CCF-40C678F4A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5102C1-AD69-084D-F3CB-A9B7CD5D8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7B1B04-B666-A13A-6137-43DDF2DEB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규제연구팀은 총 </a:t>
            </a:r>
            <a:r>
              <a:rPr lang="en-US" altLang="ko-KR" dirty="0"/>
              <a:t>5</a:t>
            </a:r>
            <a:r>
              <a:rPr lang="ko-KR" altLang="en-US" dirty="0"/>
              <a:t>개 파트에서 </a:t>
            </a:r>
            <a:r>
              <a:rPr lang="en-US" altLang="ko-KR" dirty="0"/>
              <a:t>4</a:t>
            </a:r>
            <a:r>
              <a:rPr lang="ko-KR" altLang="en-US" dirty="0"/>
              <a:t>개파트는 꼭 필요한 </a:t>
            </a:r>
            <a:r>
              <a:rPr lang="en-US" altLang="ko-KR" dirty="0"/>
              <a:t>1~2</a:t>
            </a:r>
            <a:r>
              <a:rPr lang="ko-KR" altLang="en-US" dirty="0"/>
              <a:t>명으로 운영하고 있고 국내 </a:t>
            </a:r>
            <a:r>
              <a:rPr lang="en-US" altLang="ko-KR" dirty="0"/>
              <a:t>RA </a:t>
            </a:r>
            <a:r>
              <a:rPr lang="ko-KR" altLang="en-US" dirty="0"/>
              <a:t>파트는 </a:t>
            </a:r>
            <a:r>
              <a:rPr lang="en-US" altLang="ko-KR" dirty="0"/>
              <a:t>9</a:t>
            </a:r>
            <a:r>
              <a:rPr lang="ko-KR" altLang="en-US" dirty="0"/>
              <a:t>명이 </a:t>
            </a:r>
            <a:r>
              <a:rPr lang="ko-KR" altLang="en-US" dirty="0" err="1"/>
              <a:t>잉글</a:t>
            </a:r>
            <a:r>
              <a:rPr lang="en-US" altLang="ko-KR" dirty="0"/>
              <a:t>, </a:t>
            </a:r>
            <a:r>
              <a:rPr lang="ko-KR" altLang="en-US" dirty="0"/>
              <a:t>메카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</a:t>
            </a:r>
            <a:r>
              <a:rPr lang="en-US" altLang="ko-KR" dirty="0"/>
              <a:t>, </a:t>
            </a:r>
            <a:r>
              <a:rPr lang="ko-KR" altLang="en-US" dirty="0"/>
              <a:t>규제검토 업무를 진행하고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/>
              <a:t>개년동안 인원은 지속적으로 감소한 반면</a:t>
            </a:r>
            <a:r>
              <a:rPr lang="en-US" altLang="ko-KR" dirty="0"/>
              <a:t>, </a:t>
            </a:r>
            <a:r>
              <a:rPr lang="ko-KR" altLang="en-US" dirty="0"/>
              <a:t>문안검토 횟수증가</a:t>
            </a:r>
            <a:r>
              <a:rPr lang="en-US" altLang="ko-KR" dirty="0"/>
              <a:t>, </a:t>
            </a:r>
            <a:r>
              <a:rPr lang="ko-KR" altLang="en-US" dirty="0"/>
              <a:t>규제검토요청 </a:t>
            </a:r>
            <a:r>
              <a:rPr lang="ko-KR" altLang="en-US" dirty="0" err="1"/>
              <a:t>수출국갯수</a:t>
            </a:r>
            <a:r>
              <a:rPr lang="ko-KR" altLang="en-US" dirty="0"/>
              <a:t> 증가</a:t>
            </a:r>
            <a:r>
              <a:rPr lang="en-US" altLang="ko-KR" dirty="0"/>
              <a:t>, </a:t>
            </a:r>
            <a:r>
              <a:rPr lang="ko-KR" altLang="en-US" dirty="0"/>
              <a:t>비건</a:t>
            </a:r>
            <a:r>
              <a:rPr lang="en-US" altLang="ko-KR" dirty="0"/>
              <a:t>, </a:t>
            </a:r>
            <a:r>
              <a:rPr lang="ko-KR" altLang="en-US" dirty="0" err="1"/>
              <a:t>할랄</a:t>
            </a:r>
            <a:r>
              <a:rPr lang="ko-KR" altLang="en-US" dirty="0"/>
              <a:t> 인증서비스 대행 및 고객사 플랫폼에 정보</a:t>
            </a:r>
            <a:r>
              <a:rPr lang="en-US" altLang="ko-KR" dirty="0"/>
              <a:t>,</a:t>
            </a:r>
            <a:r>
              <a:rPr lang="ko-KR" altLang="en-US" dirty="0"/>
              <a:t>문서 등록하는 업무가 추가 되었고</a:t>
            </a:r>
            <a:endParaRPr lang="en-US" altLang="ko-KR" dirty="0"/>
          </a:p>
          <a:p>
            <a:r>
              <a:rPr lang="ko-KR" altLang="en-US" dirty="0"/>
              <a:t>최근 중국 </a:t>
            </a:r>
            <a:r>
              <a:rPr lang="en-US" altLang="ko-KR" dirty="0" err="1"/>
              <a:t>nmpa</a:t>
            </a:r>
            <a:r>
              <a:rPr lang="ko-KR" altLang="en-US" dirty="0"/>
              <a:t>등록</a:t>
            </a:r>
            <a:r>
              <a:rPr lang="en-US" altLang="ko-KR" dirty="0"/>
              <a:t>, </a:t>
            </a:r>
            <a:r>
              <a:rPr lang="ko-KR" altLang="en-US" dirty="0"/>
              <a:t>추출물 용매분리 등으로 기존 제품에 대한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 재확인 등의 업무가 증가하였습니다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B9B5BC-A58D-9B4E-5068-2DD2C2263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1168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BBBCD-3873-2983-447D-A8620D88F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FC3925-DD04-C229-A45A-BC104711F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4096CA-A50E-7414-5171-4F90D034B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규제연구팀은 총 </a:t>
            </a:r>
            <a:r>
              <a:rPr lang="en-US" altLang="ko-KR" dirty="0"/>
              <a:t>5</a:t>
            </a:r>
            <a:r>
              <a:rPr lang="ko-KR" altLang="en-US" dirty="0"/>
              <a:t>개 파트에서 </a:t>
            </a:r>
            <a:r>
              <a:rPr lang="en-US" altLang="ko-KR" dirty="0"/>
              <a:t>4</a:t>
            </a:r>
            <a:r>
              <a:rPr lang="ko-KR" altLang="en-US" dirty="0"/>
              <a:t>개파트는 꼭 필요한 </a:t>
            </a:r>
            <a:r>
              <a:rPr lang="en-US" altLang="ko-KR" dirty="0"/>
              <a:t>1~2</a:t>
            </a:r>
            <a:r>
              <a:rPr lang="ko-KR" altLang="en-US" dirty="0"/>
              <a:t>명으로 운영하고 있고 국내 </a:t>
            </a:r>
            <a:r>
              <a:rPr lang="en-US" altLang="ko-KR" dirty="0"/>
              <a:t>RA </a:t>
            </a:r>
            <a:r>
              <a:rPr lang="ko-KR" altLang="en-US" dirty="0"/>
              <a:t>파트는 </a:t>
            </a:r>
            <a:r>
              <a:rPr lang="en-US" altLang="ko-KR" dirty="0"/>
              <a:t>9</a:t>
            </a:r>
            <a:r>
              <a:rPr lang="ko-KR" altLang="en-US" dirty="0"/>
              <a:t>명이 </a:t>
            </a:r>
            <a:r>
              <a:rPr lang="ko-KR" altLang="en-US" dirty="0" err="1"/>
              <a:t>잉글</a:t>
            </a:r>
            <a:r>
              <a:rPr lang="en-US" altLang="ko-KR" dirty="0"/>
              <a:t>, </a:t>
            </a:r>
            <a:r>
              <a:rPr lang="ko-KR" altLang="en-US" dirty="0"/>
              <a:t>메카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</a:t>
            </a:r>
            <a:r>
              <a:rPr lang="en-US" altLang="ko-KR" dirty="0"/>
              <a:t>, </a:t>
            </a:r>
            <a:r>
              <a:rPr lang="ko-KR" altLang="en-US" dirty="0"/>
              <a:t>규제검토 업무를 진행하고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/>
              <a:t>개년동안 인원은 지속적으로 감소한 반면</a:t>
            </a:r>
            <a:r>
              <a:rPr lang="en-US" altLang="ko-KR" dirty="0"/>
              <a:t>, </a:t>
            </a:r>
            <a:r>
              <a:rPr lang="ko-KR" altLang="en-US" dirty="0"/>
              <a:t>문안검토 횟수증가</a:t>
            </a:r>
            <a:r>
              <a:rPr lang="en-US" altLang="ko-KR" dirty="0"/>
              <a:t>, </a:t>
            </a:r>
            <a:r>
              <a:rPr lang="ko-KR" altLang="en-US" dirty="0"/>
              <a:t>규제검토요청 </a:t>
            </a:r>
            <a:r>
              <a:rPr lang="ko-KR" altLang="en-US" dirty="0" err="1"/>
              <a:t>수출국갯수</a:t>
            </a:r>
            <a:r>
              <a:rPr lang="ko-KR" altLang="en-US" dirty="0"/>
              <a:t> 증가</a:t>
            </a:r>
            <a:r>
              <a:rPr lang="en-US" altLang="ko-KR" dirty="0"/>
              <a:t>, </a:t>
            </a:r>
            <a:r>
              <a:rPr lang="ko-KR" altLang="en-US" dirty="0"/>
              <a:t>비건</a:t>
            </a:r>
            <a:r>
              <a:rPr lang="en-US" altLang="ko-KR" dirty="0"/>
              <a:t>, </a:t>
            </a:r>
            <a:r>
              <a:rPr lang="ko-KR" altLang="en-US" dirty="0" err="1"/>
              <a:t>할랄</a:t>
            </a:r>
            <a:r>
              <a:rPr lang="ko-KR" altLang="en-US" dirty="0"/>
              <a:t> 인증서비스 대행 및 고객사 플랫폼에 정보</a:t>
            </a:r>
            <a:r>
              <a:rPr lang="en-US" altLang="ko-KR" dirty="0"/>
              <a:t>,</a:t>
            </a:r>
            <a:r>
              <a:rPr lang="ko-KR" altLang="en-US" dirty="0"/>
              <a:t>문서 등록하는 업무가 추가 되었고</a:t>
            </a:r>
            <a:endParaRPr lang="en-US" altLang="ko-KR" dirty="0"/>
          </a:p>
          <a:p>
            <a:r>
              <a:rPr lang="ko-KR" altLang="en-US" dirty="0"/>
              <a:t>최근 중국 </a:t>
            </a:r>
            <a:r>
              <a:rPr lang="en-US" altLang="ko-KR" dirty="0" err="1"/>
              <a:t>nmpa</a:t>
            </a:r>
            <a:r>
              <a:rPr lang="ko-KR" altLang="en-US" dirty="0"/>
              <a:t>등록</a:t>
            </a:r>
            <a:r>
              <a:rPr lang="en-US" altLang="ko-KR" dirty="0"/>
              <a:t>, </a:t>
            </a:r>
            <a:r>
              <a:rPr lang="ko-KR" altLang="en-US" dirty="0"/>
              <a:t>추출물 용매분리 등으로 기존 제품에 대한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 재확인 등의 업무가 증가하였습니다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6D655D-0751-ECDB-A5CF-6388CDF5F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4637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CF0E4-A473-4A04-6402-09FC07EE4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DB3340-F3B5-3586-4B46-D9AB8BCD7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C98A65-87D4-76EA-4361-07885FF12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규제연구팀은 총 </a:t>
            </a:r>
            <a:r>
              <a:rPr lang="en-US" altLang="ko-KR" dirty="0"/>
              <a:t>5</a:t>
            </a:r>
            <a:r>
              <a:rPr lang="ko-KR" altLang="en-US" dirty="0"/>
              <a:t>개 파트에서 </a:t>
            </a:r>
            <a:r>
              <a:rPr lang="en-US" altLang="ko-KR" dirty="0"/>
              <a:t>4</a:t>
            </a:r>
            <a:r>
              <a:rPr lang="ko-KR" altLang="en-US" dirty="0"/>
              <a:t>개파트는 꼭 필요한 </a:t>
            </a:r>
            <a:r>
              <a:rPr lang="en-US" altLang="ko-KR" dirty="0"/>
              <a:t>1~2</a:t>
            </a:r>
            <a:r>
              <a:rPr lang="ko-KR" altLang="en-US" dirty="0"/>
              <a:t>명으로 운영하고 있고 국내 </a:t>
            </a:r>
            <a:r>
              <a:rPr lang="en-US" altLang="ko-KR" dirty="0"/>
              <a:t>RA </a:t>
            </a:r>
            <a:r>
              <a:rPr lang="ko-KR" altLang="en-US" dirty="0"/>
              <a:t>파트는 </a:t>
            </a:r>
            <a:r>
              <a:rPr lang="en-US" altLang="ko-KR" dirty="0"/>
              <a:t>9</a:t>
            </a:r>
            <a:r>
              <a:rPr lang="ko-KR" altLang="en-US" dirty="0"/>
              <a:t>명이 </a:t>
            </a:r>
            <a:r>
              <a:rPr lang="ko-KR" altLang="en-US" dirty="0" err="1"/>
              <a:t>잉글</a:t>
            </a:r>
            <a:r>
              <a:rPr lang="en-US" altLang="ko-KR" dirty="0"/>
              <a:t>, </a:t>
            </a:r>
            <a:r>
              <a:rPr lang="ko-KR" altLang="en-US" dirty="0"/>
              <a:t>메카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</a:t>
            </a:r>
            <a:r>
              <a:rPr lang="en-US" altLang="ko-KR" dirty="0"/>
              <a:t>, </a:t>
            </a:r>
            <a:r>
              <a:rPr lang="ko-KR" altLang="en-US" dirty="0"/>
              <a:t>규제검토 업무를 진행하고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최근 </a:t>
            </a:r>
            <a:r>
              <a:rPr lang="en-US" altLang="ko-KR" dirty="0"/>
              <a:t>5</a:t>
            </a:r>
            <a:r>
              <a:rPr lang="ko-KR" altLang="en-US" dirty="0"/>
              <a:t>개년동안 인원은 지속적으로 감소한 반면</a:t>
            </a:r>
            <a:r>
              <a:rPr lang="en-US" altLang="ko-KR" dirty="0"/>
              <a:t>, </a:t>
            </a:r>
            <a:r>
              <a:rPr lang="ko-KR" altLang="en-US" dirty="0"/>
              <a:t>문안검토 횟수증가</a:t>
            </a:r>
            <a:r>
              <a:rPr lang="en-US" altLang="ko-KR" dirty="0"/>
              <a:t>, </a:t>
            </a:r>
            <a:r>
              <a:rPr lang="ko-KR" altLang="en-US" dirty="0"/>
              <a:t>규제검토요청 </a:t>
            </a:r>
            <a:r>
              <a:rPr lang="ko-KR" altLang="en-US" dirty="0" err="1"/>
              <a:t>수출국갯수</a:t>
            </a:r>
            <a:r>
              <a:rPr lang="ko-KR" altLang="en-US" dirty="0"/>
              <a:t> 증가</a:t>
            </a:r>
            <a:r>
              <a:rPr lang="en-US" altLang="ko-KR" dirty="0"/>
              <a:t>, </a:t>
            </a:r>
            <a:r>
              <a:rPr lang="ko-KR" altLang="en-US" dirty="0"/>
              <a:t>비건</a:t>
            </a:r>
            <a:r>
              <a:rPr lang="en-US" altLang="ko-KR" dirty="0"/>
              <a:t>, </a:t>
            </a:r>
            <a:r>
              <a:rPr lang="ko-KR" altLang="en-US" dirty="0" err="1"/>
              <a:t>할랄</a:t>
            </a:r>
            <a:r>
              <a:rPr lang="ko-KR" altLang="en-US" dirty="0"/>
              <a:t> 인증서비스 대행 및 고객사 플랫폼에 정보</a:t>
            </a:r>
            <a:r>
              <a:rPr lang="en-US" altLang="ko-KR" dirty="0"/>
              <a:t>,</a:t>
            </a:r>
            <a:r>
              <a:rPr lang="ko-KR" altLang="en-US" dirty="0"/>
              <a:t>문서 등록하는 업무가 추가 되었고</a:t>
            </a:r>
            <a:endParaRPr lang="en-US" altLang="ko-KR" dirty="0"/>
          </a:p>
          <a:p>
            <a:r>
              <a:rPr lang="ko-KR" altLang="en-US" dirty="0"/>
              <a:t>최근 중국 </a:t>
            </a:r>
            <a:r>
              <a:rPr lang="en-US" altLang="ko-KR" dirty="0" err="1"/>
              <a:t>nmpa</a:t>
            </a:r>
            <a:r>
              <a:rPr lang="ko-KR" altLang="en-US" dirty="0"/>
              <a:t>등록</a:t>
            </a:r>
            <a:r>
              <a:rPr lang="en-US" altLang="ko-KR" dirty="0"/>
              <a:t>, </a:t>
            </a:r>
            <a:r>
              <a:rPr lang="ko-KR" altLang="en-US" dirty="0"/>
              <a:t>추출물 용매분리 등으로 기존 제품에 대한 </a:t>
            </a:r>
            <a:r>
              <a:rPr lang="ko-KR" altLang="en-US" dirty="0" err="1"/>
              <a:t>전성분</a:t>
            </a:r>
            <a:r>
              <a:rPr lang="en-US" altLang="ko-KR" dirty="0"/>
              <a:t>, </a:t>
            </a:r>
            <a:r>
              <a:rPr lang="ko-KR" altLang="en-US" dirty="0"/>
              <a:t>문안 재확인 등의 업무가 증가하였습니다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17530F-8BEB-660C-FAFC-C4C339F9C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6967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C9902-E163-D34F-5C0C-F25444610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7725FD-4C14-531C-21A0-472E38F3F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A08C99-BE85-8A53-51B6-91B3F9FD4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지금까지는 국가</a:t>
            </a:r>
            <a:r>
              <a:rPr lang="en-US" altLang="ko-KR" dirty="0"/>
              <a:t>.</a:t>
            </a:r>
            <a:r>
              <a:rPr lang="ko-KR" altLang="en-US" dirty="0"/>
              <a:t>업체별 규제사항만 준수하면 되었지만 앞으로는 안전성이 중요해지면서 제품 처방 시 규제와 안전성을 함께 검토 </a:t>
            </a:r>
            <a:r>
              <a:rPr lang="ko-KR" altLang="en-US" dirty="0" err="1"/>
              <a:t>되어야합니다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아웃소싱을 </a:t>
            </a:r>
            <a:r>
              <a:rPr lang="en-US" altLang="ko-KR" dirty="0"/>
              <a:t>3</a:t>
            </a:r>
            <a:r>
              <a:rPr lang="ko-KR" altLang="en-US" dirty="0"/>
              <a:t>년에 걸쳐 순차적으로 진행하는 방식으로 결정되면 구체적인 비용부분은 확정 후 추가 미팅을 통해 협의해 나가도록 하겠습니다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</a:t>
            </a:r>
            <a:r>
              <a:rPr lang="ko-KR" altLang="en-US" dirty="0"/>
              <a:t>사 아웃소싱 비용과 시스템 개발비용을 사전에 계획하여 </a:t>
            </a:r>
            <a:r>
              <a:rPr lang="ko-KR" altLang="en-US" dirty="0" err="1"/>
              <a:t>예산확보하여</a:t>
            </a:r>
            <a:r>
              <a:rPr lang="ko-KR" altLang="en-US" dirty="0"/>
              <a:t> 계획 후 </a:t>
            </a:r>
            <a:r>
              <a:rPr lang="ko-KR" altLang="en-US" dirty="0" err="1"/>
              <a:t>진행하게된다면</a:t>
            </a:r>
            <a:endParaRPr lang="en-US" altLang="ko-KR" dirty="0"/>
          </a:p>
          <a:p>
            <a:r>
              <a:rPr lang="ko-KR" altLang="en-US" dirty="0"/>
              <a:t>시스템 개발하는 부분은 </a:t>
            </a:r>
            <a:r>
              <a:rPr lang="en-US" altLang="ko-KR" dirty="0"/>
              <a:t>DX</a:t>
            </a:r>
            <a:r>
              <a:rPr lang="ko-KR" altLang="en-US" dirty="0"/>
              <a:t>사업부와 지속적으로 협업하여 개발사를 찾아 검토 후 보고 드리겠습니다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DD8F38-E291-CA7D-BDDB-5BB034E3C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6390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1665-247B-FE05-858E-2277EA1ED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968B6F-8F43-99F7-BA25-30C40EE22B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0D1E00-C2CC-C093-2326-7E5922E96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지금까지는 국가</a:t>
            </a:r>
            <a:r>
              <a:rPr lang="en-US" altLang="ko-KR" dirty="0"/>
              <a:t>.</a:t>
            </a:r>
            <a:r>
              <a:rPr lang="ko-KR" altLang="en-US" dirty="0"/>
              <a:t>업체별 규제사항만 준수하면 되었지만 앞으로는 안전성이 중요해지면서 제품 처방 시 규제와 안전성을 함께 검토 </a:t>
            </a:r>
            <a:r>
              <a:rPr lang="ko-KR" altLang="en-US" dirty="0" err="1"/>
              <a:t>되어야합니다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아웃소싱을 </a:t>
            </a:r>
            <a:r>
              <a:rPr lang="en-US" altLang="ko-KR" dirty="0"/>
              <a:t>3</a:t>
            </a:r>
            <a:r>
              <a:rPr lang="ko-KR" altLang="en-US" dirty="0"/>
              <a:t>년에 걸쳐 순차적으로 진행하는 방식으로 결정되면 구체적인 비용부분은 확정 후 추가 미팅을 통해 협의해 나가도록 하겠습니다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</a:t>
            </a:r>
            <a:r>
              <a:rPr lang="ko-KR" altLang="en-US" dirty="0"/>
              <a:t>사 아웃소싱 비용과 시스템 개발비용을 사전에 계획하여 </a:t>
            </a:r>
            <a:r>
              <a:rPr lang="ko-KR" altLang="en-US" dirty="0" err="1"/>
              <a:t>예산확보하여</a:t>
            </a:r>
            <a:r>
              <a:rPr lang="ko-KR" altLang="en-US" dirty="0"/>
              <a:t> 계획 후 </a:t>
            </a:r>
            <a:r>
              <a:rPr lang="ko-KR" altLang="en-US" dirty="0" err="1"/>
              <a:t>진행하게된다면</a:t>
            </a:r>
            <a:endParaRPr lang="en-US" altLang="ko-KR" dirty="0"/>
          </a:p>
          <a:p>
            <a:r>
              <a:rPr lang="ko-KR" altLang="en-US" dirty="0"/>
              <a:t>시스템 개발하는 부분은 </a:t>
            </a:r>
            <a:r>
              <a:rPr lang="en-US" altLang="ko-KR" dirty="0"/>
              <a:t>DX</a:t>
            </a:r>
            <a:r>
              <a:rPr lang="ko-KR" altLang="en-US" dirty="0"/>
              <a:t>사업부와 지속적으로 협업하여 개발사를 찾아 검토 후 보고 드리겠습니다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0DF338-CECC-40BA-E75E-6B64DEB4F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9245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80348-F647-9AD6-A588-38ACF7A91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558895-293A-49A4-E123-09562C703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2E0DF9-CF80-ED16-F4C8-FD60FB91D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규제연구 업무 효율화 안에 대해 보고 드리겠습니다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352310-BE68-6DFE-44E2-3351109DB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F341A-A58B-4E9B-B7BF-60EB0DF1D3D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786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1C19A0-D88F-926B-CFBF-07BC26CD63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940B95-CBFD-5904-E61F-148582AC41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508C5F-D938-E947-3FA7-E1E265987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E39B-6444-4C16-9B3B-5B1619F45E31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AD6C23-6837-AF20-C25E-0B06F1839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16EEB0-04C3-B626-DDC8-9F66899B1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A90-0B64-4B0C-9447-DCB812D9D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964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8122B-52AB-7046-506B-EA2804D1D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B0E60D-A16C-F3D5-4B3E-8F8638D8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2C9FFE-85B3-F96B-42A7-063D35588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E39B-6444-4C16-9B3B-5B1619F45E31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7715FF-C418-E7B1-4E7C-93EDE703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D7A8EE-AE2B-47F8-F076-A52032ED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A90-0B64-4B0C-9447-DCB812D9D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604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3BC100-7620-593C-F9BF-BB7CF5404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0B4AFD-1514-870F-52EB-93CA046EC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33295C-62C4-15FA-67DF-6B4314323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E39B-6444-4C16-9B3B-5B1619F45E31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F33A86-443E-6E46-8DB3-1241CE018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A57493-D452-0106-E8DE-77B7634A5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A90-0B64-4B0C-9447-DCB812D9D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637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5C6FCD-A7E1-FD08-CFFA-60F4C4DBA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14228C-8C87-14E4-D1C5-9E0F9C86DE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84B58B-C57C-D7E9-4EC5-E55DE2980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16B679-9AAD-FC68-BAB2-3F146905B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E39B-6444-4C16-9B3B-5B1619F45E31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E8BA8B-2D03-4124-11CB-01B86B1B4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E489A9-F890-6B01-DD8B-5A048E576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A90-0B64-4B0C-9447-DCB812D9D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05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4F61BB-F46D-9EED-3944-A0AB1953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677C2C-18A5-F34E-2D72-0F81E2767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734571-35A1-4CAC-36F4-111DD2592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8810953-6CD8-82EF-FAE0-8EA206D26D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9D41F5-D72C-1397-BFD4-D3F8BE7B3D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861B4AA-6255-9BBD-9E79-2AF016A05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E39B-6444-4C16-9B3B-5B1619F45E31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0EF74D8-B9BC-79FB-2D5E-2E728634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F9AE24-F507-7AF2-7437-6B950981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A90-0B64-4B0C-9447-DCB812D9D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888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541871-3DA4-012E-94AD-9E3115467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916BAE-73ED-0031-7E99-84775826E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E39B-6444-4C16-9B3B-5B1619F45E31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BEA414F-F1D1-FF5F-DF4F-E96843EB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46020E-0C4A-3D54-10F8-E8F443EE5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A90-0B64-4B0C-9447-DCB812D9D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371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447DE46-B105-2E78-635F-12A73E59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E39B-6444-4C16-9B3B-5B1619F45E31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429ACC1-4780-C073-EDDC-BD42687C6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510983-E04B-BCF6-44B7-DA73AD481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A90-0B64-4B0C-9447-DCB812D9D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476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7B2220-8DCF-BCD7-A642-0344327C7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586C9F-B316-8D0B-37B5-2043FAA08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E736B4-5545-938F-3C0C-0BDFACCC2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D513DB-A523-AB01-1C6E-38142E5D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E39B-6444-4C16-9B3B-5B1619F45E31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309952-1183-5BE3-A6F6-B7AA246A7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E62307-B6B2-0777-B108-C87421E57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A90-0B64-4B0C-9447-DCB812D9D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757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5AE5C3-A7B3-EB38-8F2A-C0828A53D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85AA65B-1B9B-C113-ADA0-9B59D208EA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03AC4F-6C8F-15D1-02AB-6A8578649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ED5AF4-04F3-11A3-4641-C7C787473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E39B-6444-4C16-9B3B-5B1619F45E31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284B1B-81EC-5790-521C-67E1863FB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B81AF5-3EDB-0F1F-A0D4-6B3FCBED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A90-0B64-4B0C-9447-DCB812D9D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012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8BE6E-A049-7217-17F2-00DA99422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403749-1D44-521B-8B08-DEEC16ED9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FF933E-9DF6-5D0D-F1C1-C183F9FEC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E39B-6444-4C16-9B3B-5B1619F45E31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961832-F087-BB0B-A89F-E3B751E2F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236B48-38E1-F751-11DD-6D6CAB7EB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A90-0B64-4B0C-9447-DCB812D9D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276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E9975A1-CFAD-9896-0A0C-27AB07B945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2D2ADA-BFE9-F80E-6CBA-536E252AC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376616-8B38-F66A-5465-3D9FD62C3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E39B-6444-4C16-9B3B-5B1619F45E31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F85816-A4C4-5B7B-613A-98EB03C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96F107-D21E-4008-AB69-D7AEE96A4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1A90-0B64-4B0C-9447-DCB812D9D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41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5C1F069-798E-8DA7-C300-15198109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F0244F-A912-B850-1042-056C5001B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884885-D94B-4ADF-00BB-3C699B67A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FE39B-6444-4C16-9B3B-5B1619F45E31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C1CFB4-65EA-AA20-9C07-1B5426640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CD1A42-8586-3A83-D9B5-7778C178E7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E51A90-0B64-4B0C-9447-DCB812D9D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570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hyperlink" Target="http://192.168.115.21/csi-requesthandler/api/v2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65080F2A-4103-5E86-4360-4FE5E719CCA3}"/>
              </a:ext>
            </a:extLst>
          </p:cNvPr>
          <p:cNvCxnSpPr>
            <a:cxnSpLocks/>
          </p:cNvCxnSpPr>
          <p:nvPr/>
        </p:nvCxnSpPr>
        <p:spPr>
          <a:xfrm>
            <a:off x="8308258" y="5279598"/>
            <a:ext cx="3883742" cy="0"/>
          </a:xfrm>
          <a:prstGeom prst="line">
            <a:avLst/>
          </a:prstGeom>
          <a:ln>
            <a:solidFill>
              <a:srgbClr val="E96E6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51" name="Picture 13" descr="C:\Users\이창원\Desktop\코스메카-CI_영문.gif">
            <a:extLst>
              <a:ext uri="{FF2B5EF4-FFF2-40B4-BE49-F238E27FC236}">
                <a16:creationId xmlns:a16="http://schemas.microsoft.com/office/drawing/2014/main" id="{AC2D3EC4-FFC1-83FD-1784-DBDF75D9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048" y="5087510"/>
            <a:ext cx="187166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제목 1">
            <a:extLst>
              <a:ext uri="{FF2B5EF4-FFF2-40B4-BE49-F238E27FC236}">
                <a16:creationId xmlns:a16="http://schemas.microsoft.com/office/drawing/2014/main" id="{241D5D1F-DA15-FEB8-90AD-197139C9B110}"/>
              </a:ext>
            </a:extLst>
          </p:cNvPr>
          <p:cNvSpPr txBox="1">
            <a:spLocks/>
          </p:cNvSpPr>
          <p:nvPr/>
        </p:nvSpPr>
        <p:spPr>
          <a:xfrm>
            <a:off x="2477647" y="6572250"/>
            <a:ext cx="3702144" cy="285750"/>
          </a:xfrm>
          <a:prstGeom prst="rect">
            <a:avLst/>
          </a:prstGeom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5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  <a:cs typeface="Tahoma" pitchFamily="34" charset="0"/>
              </a:rPr>
              <a:t>본 문서는 사외유출을 금지하며</a:t>
            </a:r>
            <a:r>
              <a:rPr kumimoji="1" lang="en-US" altLang="ko-KR" sz="105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  <a:cs typeface="Tahoma" pitchFamily="34" charset="0"/>
              </a:rPr>
              <a:t>, </a:t>
            </a:r>
            <a:r>
              <a:rPr kumimoji="1" lang="ko-KR" altLang="en-US" sz="105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  <a:cs typeface="Tahoma" pitchFamily="34" charset="0"/>
              </a:rPr>
              <a:t>모든 권한은 회사에 있음</a:t>
            </a:r>
            <a:r>
              <a:rPr kumimoji="1" lang="en-US" altLang="ko-KR" sz="105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  <a:cs typeface="Tahoma" pitchFamily="34" charset="0"/>
              </a:rPr>
              <a:t>.</a:t>
            </a:r>
            <a:endParaRPr kumimoji="1" lang="ko-KR" altLang="en-US" sz="1050" dirty="0">
              <a:solidFill>
                <a:prstClr val="black"/>
              </a:solidFill>
              <a:latin typeface="굴림" pitchFamily="50" charset="-127"/>
              <a:ea typeface="굴림" pitchFamily="50" charset="-127"/>
              <a:cs typeface="Tahoma" pitchFamily="34" charset="0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DC2D140-1A76-29F9-AE6D-AE1E1101B14B}"/>
              </a:ext>
            </a:extLst>
          </p:cNvPr>
          <p:cNvCxnSpPr/>
          <p:nvPr/>
        </p:nvCxnSpPr>
        <p:spPr>
          <a:xfrm>
            <a:off x="2545847" y="6583364"/>
            <a:ext cx="2071687" cy="158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2D0522E-ADA2-97F3-929F-A8FA5B0E5D5E}"/>
              </a:ext>
            </a:extLst>
          </p:cNvPr>
          <p:cNvSpPr/>
          <p:nvPr/>
        </p:nvSpPr>
        <p:spPr>
          <a:xfrm>
            <a:off x="1475029" y="0"/>
            <a:ext cx="741591" cy="6857998"/>
          </a:xfrm>
          <a:prstGeom prst="rect">
            <a:avLst/>
          </a:prstGeom>
          <a:solidFill>
            <a:schemeClr val="accent2">
              <a:lumMod val="60000"/>
              <a:lumOff val="40000"/>
              <a:alpha val="62000"/>
            </a:schemeClr>
          </a:solidFill>
          <a:ln>
            <a:noFill/>
          </a:ln>
          <a:effectLst>
            <a:outerShdw blurRad="50800" dist="101600" algn="l" rotWithShape="0">
              <a:schemeClr val="accent6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0D9E353-DF54-9054-1652-6F4A0084F05F}"/>
              </a:ext>
            </a:extLst>
          </p:cNvPr>
          <p:cNvSpPr/>
          <p:nvPr/>
        </p:nvSpPr>
        <p:spPr>
          <a:xfrm>
            <a:off x="988563" y="0"/>
            <a:ext cx="1007385" cy="6857998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0B434AB-C581-97E5-C90F-F608BA206AD0}"/>
              </a:ext>
            </a:extLst>
          </p:cNvPr>
          <p:cNvSpPr/>
          <p:nvPr/>
        </p:nvSpPr>
        <p:spPr>
          <a:xfrm>
            <a:off x="0" y="0"/>
            <a:ext cx="1378336" cy="6857998"/>
          </a:xfrm>
          <a:prstGeom prst="rect">
            <a:avLst/>
          </a:prstGeom>
          <a:solidFill>
            <a:srgbClr val="E96E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3BF209-8E82-8C97-5AB3-BAAEA61B0E28}"/>
              </a:ext>
            </a:extLst>
          </p:cNvPr>
          <p:cNvSpPr txBox="1"/>
          <p:nvPr/>
        </p:nvSpPr>
        <p:spPr>
          <a:xfrm>
            <a:off x="9910619" y="4956211"/>
            <a:ext cx="2232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IT</a:t>
            </a:r>
            <a:r>
              <a:rPr lang="ko-KR" altLang="en-US" sz="1200" b="1" dirty="0" err="1"/>
              <a:t>전략팀</a:t>
            </a:r>
            <a:r>
              <a:rPr lang="ko-KR" altLang="en-US" sz="1200" b="1" dirty="0"/>
              <a:t> 최연웅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4ADB12-CCEA-A038-D3E7-0B232A405E73}"/>
              </a:ext>
            </a:extLst>
          </p:cNvPr>
          <p:cNvSpPr txBox="1"/>
          <p:nvPr/>
        </p:nvSpPr>
        <p:spPr>
          <a:xfrm>
            <a:off x="10250129" y="5340880"/>
            <a:ext cx="17390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2026. 01. 06</a:t>
            </a:r>
            <a:endParaRPr lang="ko-KR" alt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89B84-3DED-2A28-3751-C87FD036F7C9}"/>
              </a:ext>
            </a:extLst>
          </p:cNvPr>
          <p:cNvSpPr txBox="1"/>
          <p:nvPr/>
        </p:nvSpPr>
        <p:spPr>
          <a:xfrm>
            <a:off x="3998961" y="2967334"/>
            <a:ext cx="557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1">
                    <a:lumMod val="50000"/>
                  </a:schemeClr>
                </a:solidFill>
              </a:rPr>
              <a:t>CRS-PLM,ERP </a:t>
            </a:r>
            <a:r>
              <a:rPr lang="ko-KR" altLang="en-US" sz="2400" b="1" dirty="0">
                <a:solidFill>
                  <a:schemeClr val="accent1">
                    <a:lumMod val="50000"/>
                  </a:schemeClr>
                </a:solidFill>
              </a:rPr>
              <a:t>연동 프로세스 정립</a:t>
            </a:r>
            <a:endParaRPr lang="en-US" altLang="ko-K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4976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2ECCA-A59F-2BFD-877E-0DBE434BC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6C4BD7F2-04EF-8174-B3D9-EA268BD09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52050CD4-537E-F6A4-B06D-78854917B075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CF48E012-6F03-1BD6-0F01-27B18FEB4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9C3C8035-E0DB-7611-E868-3ABB6EA25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16EED-BCC9-1B2A-2B2D-C756F50101AF}"/>
              </a:ext>
            </a:extLst>
          </p:cNvPr>
          <p:cNvSpPr txBox="1"/>
          <p:nvPr/>
        </p:nvSpPr>
        <p:spPr>
          <a:xfrm>
            <a:off x="4617079" y="1307224"/>
            <a:ext cx="477066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/>
              <a:t>목 차</a:t>
            </a:r>
            <a:endParaRPr lang="en-US" altLang="ko-KR" sz="2400" b="1" dirty="0"/>
          </a:p>
          <a:p>
            <a:pPr marL="342900" indent="-342900">
              <a:buAutoNum type="arabicPeriod"/>
            </a:pPr>
            <a:endParaRPr lang="en-US" altLang="ko-KR" sz="2400" b="1" dirty="0"/>
          </a:p>
          <a:p>
            <a:pPr marL="342900" indent="-342900">
              <a:buAutoNum type="arabicPeriod"/>
            </a:pPr>
            <a:r>
              <a:rPr lang="en-US" altLang="ko-KR" sz="2400" b="1" dirty="0"/>
              <a:t>CRS </a:t>
            </a:r>
            <a:r>
              <a:rPr lang="ko-KR" altLang="en-US" sz="2400" b="1" dirty="0"/>
              <a:t>연동 목록</a:t>
            </a:r>
            <a:endParaRPr lang="en-US" altLang="ko-KR" sz="2400" b="1" dirty="0"/>
          </a:p>
          <a:p>
            <a:pPr marL="342900" indent="-342900">
              <a:buAutoNum type="arabicPeriod"/>
            </a:pPr>
            <a:endParaRPr lang="en-US" altLang="ko-KR" sz="2400" b="1" dirty="0"/>
          </a:p>
          <a:p>
            <a:pPr marL="342900" indent="-342900">
              <a:buAutoNum type="arabicPeriod"/>
            </a:pP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시스템 연동 검토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</a:rPr>
              <a:t>API </a:t>
            </a: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기술 검토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시스템 확장성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규제검토 시스템 검토 현황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/>
          </a:p>
          <a:p>
            <a:pPr marL="342900" indent="-342900">
              <a:buAutoNum type="arabicPeriod"/>
            </a:pPr>
            <a:endParaRPr lang="en-US" altLang="ko-KR" sz="2400" b="1" dirty="0"/>
          </a:p>
          <a:p>
            <a:pPr marL="342900" indent="-342900">
              <a:buAutoNum type="arabicPeriod"/>
            </a:pP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16802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7CDFD-485D-5C5A-E3F5-0E46A35F1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59031030-72BB-4649-AA32-F6017D371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D4F5241D-631F-2C99-CBD7-5F2712F51717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C68205-279C-A9CD-98A7-1571ACF6A87A}"/>
              </a:ext>
            </a:extLst>
          </p:cNvPr>
          <p:cNvSpPr txBox="1"/>
          <p:nvPr/>
        </p:nvSpPr>
        <p:spPr>
          <a:xfrm>
            <a:off x="210911" y="518621"/>
            <a:ext cx="30428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■ </a:t>
            </a:r>
            <a:r>
              <a:rPr lang="en-US" altLang="ko-KR" sz="1600" b="1" dirty="0"/>
              <a:t>CRS </a:t>
            </a:r>
            <a:r>
              <a:rPr lang="ko-KR" altLang="en-US" sz="1600" b="1" dirty="0"/>
              <a:t>연동 상세 내용</a:t>
            </a:r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B43103EC-C1EA-5061-2772-ADD83A7E6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09A2142B-4652-48A8-79E0-B8491C135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515F6B-E674-4D6A-2F6A-590C53E67A47}"/>
              </a:ext>
            </a:extLst>
          </p:cNvPr>
          <p:cNvSpPr txBox="1"/>
          <p:nvPr/>
        </p:nvSpPr>
        <p:spPr>
          <a:xfrm>
            <a:off x="539794" y="940770"/>
            <a:ext cx="575173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1-1. </a:t>
            </a:r>
            <a:r>
              <a:rPr lang="ko-KR" altLang="en-US" sz="1600" b="1" dirty="0"/>
              <a:t>성분마스터 등록</a:t>
            </a:r>
            <a:endParaRPr lang="en-US" altLang="ko-KR" sz="1600" b="1" dirty="0"/>
          </a:p>
          <a:p>
            <a:r>
              <a:rPr lang="ko-KR" altLang="en-US" sz="1600" dirty="0"/>
              <a:t>성분 마스터 정보 관리</a:t>
            </a:r>
            <a:endParaRPr lang="en-US" altLang="ko-KR" sz="1600" dirty="0"/>
          </a:p>
          <a:p>
            <a:endParaRPr lang="en-US" altLang="ko-KR" sz="1600" b="1" dirty="0"/>
          </a:p>
          <a:p>
            <a:r>
              <a:rPr lang="en-US" altLang="ko-KR" sz="1600" b="1" dirty="0"/>
              <a:t>-</a:t>
            </a:r>
            <a:r>
              <a:rPr lang="ko-KR" altLang="en-US" sz="1600" b="1" dirty="0"/>
              <a:t> 연동 프로세스</a:t>
            </a:r>
            <a:endParaRPr lang="en-US" altLang="ko-KR" sz="1600" b="1" dirty="0"/>
          </a:p>
          <a:p>
            <a:r>
              <a:rPr lang="en-US" altLang="ko-KR" sz="1600" dirty="0"/>
              <a:t>  CRS </a:t>
            </a:r>
            <a:r>
              <a:rPr lang="ko-KR" altLang="en-US" sz="1600" dirty="0"/>
              <a:t>→ </a:t>
            </a:r>
            <a:r>
              <a:rPr lang="en-US" altLang="ko-KR" sz="1600" dirty="0"/>
              <a:t>ERP, PLM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-</a:t>
            </a:r>
            <a:r>
              <a:rPr lang="ko-KR" altLang="en-US" sz="1600" b="1" dirty="0"/>
              <a:t> 연동 내용</a:t>
            </a:r>
            <a:endParaRPr lang="en-US" altLang="ko-KR" sz="1600" b="1" dirty="0"/>
          </a:p>
          <a:p>
            <a:r>
              <a:rPr lang="ko-KR" altLang="en-US" sz="1600" dirty="0"/>
              <a:t>  성분 마스터</a:t>
            </a:r>
            <a:r>
              <a:rPr lang="en-US" altLang="ko-KR" sz="1600" dirty="0"/>
              <a:t>, </a:t>
            </a:r>
            <a:r>
              <a:rPr lang="ko-KR" altLang="en-US" sz="1600" dirty="0"/>
              <a:t>성분의 규제 내용</a:t>
            </a:r>
            <a:endParaRPr lang="en-US" altLang="ko-KR" sz="1600" dirty="0"/>
          </a:p>
          <a:p>
            <a:endParaRPr lang="en-US" altLang="ko-KR" sz="1600" b="1" dirty="0"/>
          </a:p>
          <a:p>
            <a:r>
              <a:rPr lang="en-US" altLang="ko-KR" sz="1600" b="1" dirty="0"/>
              <a:t>-</a:t>
            </a:r>
            <a:r>
              <a:rPr lang="ko-KR" altLang="en-US" sz="1600" b="1" dirty="0"/>
              <a:t> 연동 방식</a:t>
            </a:r>
            <a:endParaRPr lang="en-US" altLang="ko-KR" sz="1600" b="1" dirty="0"/>
          </a:p>
          <a:p>
            <a:r>
              <a:rPr lang="en-US" altLang="ko-KR" sz="1600" b="1" dirty="0"/>
              <a:t>  </a:t>
            </a:r>
            <a:r>
              <a:rPr lang="en-US" altLang="ko-KR" sz="1600" dirty="0"/>
              <a:t>1) CRS </a:t>
            </a:r>
            <a:r>
              <a:rPr lang="ko-KR" altLang="en-US" sz="1600" dirty="0"/>
              <a:t>내 성분 마스터 정보 등록</a:t>
            </a:r>
            <a:endParaRPr lang="en-US" altLang="ko-KR" sz="1600" dirty="0"/>
          </a:p>
          <a:p>
            <a:r>
              <a:rPr lang="en-US" altLang="ko-KR" sz="1600" dirty="0"/>
              <a:t>  2) API </a:t>
            </a:r>
            <a:r>
              <a:rPr lang="ko-KR" altLang="en-US" sz="1600" dirty="0"/>
              <a:t>연동을 통한 </a:t>
            </a:r>
            <a:r>
              <a:rPr lang="en-US" altLang="ko-KR" sz="1600" dirty="0"/>
              <a:t>PLM </a:t>
            </a:r>
            <a:r>
              <a:rPr lang="ko-KR" altLang="en-US" sz="1600" dirty="0"/>
              <a:t>내 성분 마스터 데이터 생성</a:t>
            </a:r>
            <a:endParaRPr lang="en-US" altLang="ko-KR" sz="1600" dirty="0"/>
          </a:p>
          <a:p>
            <a:r>
              <a:rPr lang="en-US" altLang="ko-KR" sz="1600" dirty="0"/>
              <a:t>  3) View</a:t>
            </a:r>
            <a:r>
              <a:rPr lang="ko-KR" altLang="en-US" sz="1600" dirty="0"/>
              <a:t>를 통한 </a:t>
            </a:r>
            <a:r>
              <a:rPr lang="en-US" altLang="ko-KR" sz="1600" dirty="0"/>
              <a:t>ERP </a:t>
            </a:r>
            <a:r>
              <a:rPr lang="ko-KR" altLang="en-US" sz="1600" dirty="0"/>
              <a:t>내 성분데이터 확인</a:t>
            </a:r>
            <a:r>
              <a:rPr lang="en-US" altLang="ko-KR" sz="1600" dirty="0"/>
              <a:t>(API </a:t>
            </a:r>
            <a:r>
              <a:rPr lang="ko-KR" altLang="en-US" sz="1600" dirty="0"/>
              <a:t>연동 검토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FC327A-D037-B370-9666-326F75F1AF43}"/>
              </a:ext>
            </a:extLst>
          </p:cNvPr>
          <p:cNvSpPr txBox="1"/>
          <p:nvPr/>
        </p:nvSpPr>
        <p:spPr>
          <a:xfrm>
            <a:off x="49161" y="414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CRS </a:t>
            </a:r>
            <a:r>
              <a:rPr lang="ko-KR" altLang="en-US" b="1" dirty="0"/>
              <a:t>연동 목록</a:t>
            </a:r>
            <a:endParaRPr lang="ko-KR" altLang="en-US" sz="1800" b="1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FC8361B-0589-8DFF-5DA6-71CCC21E2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984" y="3081702"/>
            <a:ext cx="5999281" cy="340938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A88A53A-47B0-44C6-A558-793120188F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6956" y="835734"/>
            <a:ext cx="4048125" cy="952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BD7C364-6C32-4B8A-1C58-7C6350F0C42A}"/>
              </a:ext>
            </a:extLst>
          </p:cNvPr>
          <p:cNvSpPr txBox="1"/>
          <p:nvPr/>
        </p:nvSpPr>
        <p:spPr>
          <a:xfrm>
            <a:off x="8224779" y="1831225"/>
            <a:ext cx="1952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신규 </a:t>
            </a:r>
            <a:r>
              <a:rPr lang="en-US" altLang="ko-KR" b="1" dirty="0"/>
              <a:t>CRS </a:t>
            </a:r>
            <a:r>
              <a:rPr lang="ko-KR" altLang="en-US" b="1" dirty="0"/>
              <a:t>시스템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BBF0785-5782-6203-19B0-8C4336FED683}"/>
              </a:ext>
            </a:extLst>
          </p:cNvPr>
          <p:cNvCxnSpPr/>
          <p:nvPr/>
        </p:nvCxnSpPr>
        <p:spPr>
          <a:xfrm>
            <a:off x="9201091" y="2362200"/>
            <a:ext cx="0" cy="571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035FA95-DED2-66E7-0A0F-28A66CAE4F0F}"/>
              </a:ext>
            </a:extLst>
          </p:cNvPr>
          <p:cNvSpPr txBox="1"/>
          <p:nvPr/>
        </p:nvSpPr>
        <p:spPr>
          <a:xfrm>
            <a:off x="8593843" y="3047613"/>
            <a:ext cx="121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PLM </a:t>
            </a:r>
            <a:r>
              <a:rPr lang="ko-KR" altLang="en-US" b="1" dirty="0"/>
              <a:t>연동</a:t>
            </a:r>
          </a:p>
        </p:txBody>
      </p:sp>
    </p:spTree>
    <p:extLst>
      <p:ext uri="{BB962C8B-B14F-4D97-AF65-F5344CB8AC3E}">
        <p14:creationId xmlns:p14="http://schemas.microsoft.com/office/powerpoint/2010/main" val="4118706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5730C-7AB2-E39D-9466-376EEABD2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C8E7DB38-0C31-A492-D463-F4983F582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14EB20F2-4448-A095-33CB-9A79E3074CD1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08D080-F513-D8D0-0028-64B5DE4C586B}"/>
              </a:ext>
            </a:extLst>
          </p:cNvPr>
          <p:cNvSpPr txBox="1"/>
          <p:nvPr/>
        </p:nvSpPr>
        <p:spPr>
          <a:xfrm>
            <a:off x="210911" y="518621"/>
            <a:ext cx="30428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■ </a:t>
            </a:r>
            <a:r>
              <a:rPr lang="en-US" altLang="ko-KR" sz="1600" b="1" dirty="0"/>
              <a:t>CRS </a:t>
            </a:r>
            <a:r>
              <a:rPr lang="ko-KR" altLang="en-US" sz="1600" b="1" dirty="0"/>
              <a:t>연동 상세 내용</a:t>
            </a:r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8C9D7206-3ADD-C6AA-280B-9C7D6F5A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D493CEF4-179D-5728-A75B-AB27675F5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819055-B226-A010-480E-14DF4E1ADD6D}"/>
              </a:ext>
            </a:extLst>
          </p:cNvPr>
          <p:cNvSpPr txBox="1"/>
          <p:nvPr/>
        </p:nvSpPr>
        <p:spPr>
          <a:xfrm>
            <a:off x="532872" y="960533"/>
            <a:ext cx="575173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1-2. </a:t>
            </a:r>
            <a:r>
              <a:rPr lang="ko-KR" altLang="en-US" sz="1600" b="1" dirty="0"/>
              <a:t>성분기준 원료 및 품목조회</a:t>
            </a:r>
            <a:endParaRPr lang="en-US" altLang="ko-KR" sz="1600" b="1" dirty="0"/>
          </a:p>
          <a:p>
            <a:r>
              <a:rPr lang="ko-KR" altLang="en-US" sz="1600" dirty="0"/>
              <a:t>성분별 원료 및 품목 </a:t>
            </a:r>
            <a:r>
              <a:rPr lang="ko-KR" altLang="en-US" sz="1600" dirty="0" err="1"/>
              <a:t>역전개</a:t>
            </a:r>
            <a:r>
              <a:rPr lang="ko-KR" altLang="en-US" sz="1600" dirty="0"/>
              <a:t> 조회</a:t>
            </a:r>
            <a:endParaRPr lang="en-US" altLang="ko-KR" sz="1600" dirty="0"/>
          </a:p>
          <a:p>
            <a:endParaRPr lang="en-US" altLang="ko-KR" sz="1600" b="1" dirty="0"/>
          </a:p>
          <a:p>
            <a:r>
              <a:rPr lang="en-US" altLang="ko-KR" sz="1600" b="1" dirty="0"/>
              <a:t>-</a:t>
            </a:r>
            <a:r>
              <a:rPr lang="ko-KR" altLang="en-US" sz="1600" b="1" dirty="0"/>
              <a:t> 연동 프로세스</a:t>
            </a:r>
            <a:endParaRPr lang="en-US" altLang="ko-KR" sz="1600" b="1" dirty="0"/>
          </a:p>
          <a:p>
            <a:r>
              <a:rPr lang="en-US" altLang="ko-KR" sz="1600" dirty="0"/>
              <a:t>  CRS </a:t>
            </a:r>
            <a:r>
              <a:rPr lang="ko-KR" altLang="en-US" sz="1600" dirty="0"/>
              <a:t>↔ </a:t>
            </a:r>
            <a:r>
              <a:rPr lang="en-US" altLang="ko-KR" sz="1600" dirty="0"/>
              <a:t>ERP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-</a:t>
            </a:r>
            <a:r>
              <a:rPr lang="ko-KR" altLang="en-US" sz="1600" b="1" dirty="0"/>
              <a:t> 연동 내용</a:t>
            </a:r>
            <a:endParaRPr lang="en-US" altLang="ko-KR" sz="1600" b="1" dirty="0"/>
          </a:p>
          <a:p>
            <a:r>
              <a:rPr lang="ko-KR" altLang="en-US" sz="1600" dirty="0"/>
              <a:t>  성분 기준 원료 및 품목 </a:t>
            </a:r>
            <a:r>
              <a:rPr lang="ko-KR" altLang="en-US" sz="1600" dirty="0" err="1"/>
              <a:t>역전개</a:t>
            </a:r>
            <a:r>
              <a:rPr lang="ko-KR" altLang="en-US" sz="1600" dirty="0"/>
              <a:t> 데이터 조회</a:t>
            </a:r>
            <a:endParaRPr lang="en-US" altLang="ko-KR" sz="1600" dirty="0"/>
          </a:p>
          <a:p>
            <a:endParaRPr lang="en-US" altLang="ko-KR" sz="1600" b="1" dirty="0"/>
          </a:p>
          <a:p>
            <a:r>
              <a:rPr lang="en-US" altLang="ko-KR" sz="1600" b="1" dirty="0"/>
              <a:t>-</a:t>
            </a:r>
            <a:r>
              <a:rPr lang="ko-KR" altLang="en-US" sz="1600" b="1" dirty="0"/>
              <a:t> 연동 방식</a:t>
            </a:r>
            <a:endParaRPr lang="en-US" altLang="ko-KR" sz="1600" b="1" dirty="0"/>
          </a:p>
          <a:p>
            <a:r>
              <a:rPr lang="en-US" altLang="ko-KR" sz="1600" b="1" dirty="0"/>
              <a:t>  </a:t>
            </a:r>
            <a:r>
              <a:rPr lang="en-US" altLang="ko-KR" sz="1600" dirty="0"/>
              <a:t>1) CRS </a:t>
            </a:r>
            <a:r>
              <a:rPr lang="ko-KR" altLang="en-US" sz="1600" dirty="0"/>
              <a:t>내 성분별 원료</a:t>
            </a:r>
            <a:r>
              <a:rPr lang="en-US" altLang="ko-KR" sz="1600" dirty="0"/>
              <a:t> </a:t>
            </a:r>
            <a:r>
              <a:rPr lang="ko-KR" altLang="en-US" sz="1600" dirty="0"/>
              <a:t>데이터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요청</a:t>
            </a:r>
            <a:endParaRPr lang="en-US" altLang="ko-KR" sz="1600" dirty="0"/>
          </a:p>
          <a:p>
            <a:r>
              <a:rPr lang="en-US" altLang="ko-KR" sz="1600" dirty="0"/>
              <a:t>  2) ERP </a:t>
            </a:r>
            <a:r>
              <a:rPr lang="ko-KR" altLang="en-US" sz="1600" dirty="0"/>
              <a:t>내 원료별 </a:t>
            </a:r>
            <a:r>
              <a:rPr lang="ko-KR" altLang="en-US" sz="1600" dirty="0" err="1"/>
              <a:t>벌크</a:t>
            </a:r>
            <a:r>
              <a:rPr lang="en-US" altLang="ko-KR" sz="1600" dirty="0"/>
              <a:t>(3</a:t>
            </a:r>
            <a:r>
              <a:rPr lang="ko-KR" altLang="en-US" sz="1600" dirty="0" err="1"/>
              <a:t>번품번</a:t>
            </a:r>
            <a:r>
              <a:rPr lang="en-US" altLang="ko-KR" sz="1600" dirty="0"/>
              <a:t>)</a:t>
            </a:r>
            <a:r>
              <a:rPr lang="ko-KR" altLang="en-US" sz="1600" dirty="0"/>
              <a:t> 데이터 제공 </a:t>
            </a:r>
            <a:r>
              <a:rPr lang="en-US" altLang="ko-KR" sz="1600" dirty="0"/>
              <a:t>  </a:t>
            </a:r>
          </a:p>
          <a:p>
            <a:r>
              <a:rPr lang="en-US" altLang="ko-KR" sz="1600" dirty="0"/>
              <a:t>  3) ERP </a:t>
            </a:r>
            <a:r>
              <a:rPr lang="ko-KR" altLang="en-US" sz="1600" dirty="0"/>
              <a:t>내 </a:t>
            </a:r>
            <a:r>
              <a:rPr lang="ko-KR" altLang="en-US" sz="1600" dirty="0" err="1"/>
              <a:t>벌크별</a:t>
            </a:r>
            <a:r>
              <a:rPr lang="ko-KR" altLang="en-US" sz="1600" dirty="0"/>
              <a:t> 제품</a:t>
            </a:r>
            <a:r>
              <a:rPr lang="en-US" altLang="ko-KR" sz="1600" dirty="0"/>
              <a:t>(5</a:t>
            </a:r>
            <a:r>
              <a:rPr lang="ko-KR" altLang="en-US" sz="1600" dirty="0" err="1"/>
              <a:t>번품번</a:t>
            </a:r>
            <a:r>
              <a:rPr lang="en-US" altLang="ko-KR" sz="1600" dirty="0"/>
              <a:t>) </a:t>
            </a:r>
            <a:r>
              <a:rPr lang="ko-KR" altLang="en-US" sz="1600" dirty="0"/>
              <a:t>데이터 제공</a:t>
            </a:r>
            <a:endParaRPr lang="en-US" altLang="ko-KR" sz="1600" dirty="0"/>
          </a:p>
          <a:p>
            <a:r>
              <a:rPr lang="en-US" altLang="ko-KR" sz="1600" dirty="0"/>
              <a:t>  4) ERP </a:t>
            </a:r>
            <a:r>
              <a:rPr lang="ko-KR" altLang="en-US" sz="1600" dirty="0"/>
              <a:t>내 </a:t>
            </a:r>
            <a:r>
              <a:rPr lang="en-US" altLang="ko-KR" sz="1600" dirty="0"/>
              <a:t>3</a:t>
            </a:r>
            <a:r>
              <a:rPr lang="ko-KR" altLang="en-US" sz="1600" dirty="0" err="1"/>
              <a:t>번품번별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랩넘버</a:t>
            </a:r>
            <a:r>
              <a:rPr lang="ko-KR" altLang="en-US" sz="1600" dirty="0"/>
              <a:t> 데이터 제공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7B178-43A9-8593-3205-9257C2CF7456}"/>
              </a:ext>
            </a:extLst>
          </p:cNvPr>
          <p:cNvSpPr txBox="1"/>
          <p:nvPr/>
        </p:nvSpPr>
        <p:spPr>
          <a:xfrm>
            <a:off x="49161" y="414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CRS </a:t>
            </a:r>
            <a:r>
              <a:rPr lang="ko-KR" altLang="en-US" b="1" dirty="0"/>
              <a:t>연동 목록</a:t>
            </a:r>
            <a:endParaRPr lang="ko-KR" altLang="en-US" sz="18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C271024-15D0-6C6E-5429-AD58910BD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6956" y="835734"/>
            <a:ext cx="4048125" cy="952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52F92C-C0AE-24F5-35F1-F1B7AE8E31C1}"/>
              </a:ext>
            </a:extLst>
          </p:cNvPr>
          <p:cNvSpPr txBox="1"/>
          <p:nvPr/>
        </p:nvSpPr>
        <p:spPr>
          <a:xfrm>
            <a:off x="8081904" y="1831225"/>
            <a:ext cx="2119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[CRS] </a:t>
            </a:r>
            <a:r>
              <a:rPr lang="ko-KR" altLang="en-US" b="1" dirty="0"/>
              <a:t>신규</a:t>
            </a:r>
            <a:r>
              <a:rPr lang="en-US" altLang="ko-KR" b="1" dirty="0"/>
              <a:t> </a:t>
            </a:r>
            <a:r>
              <a:rPr lang="ko-KR" altLang="en-US" b="1" dirty="0"/>
              <a:t>시스템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CBA51F2-82EE-B96F-8489-42D9FF558AB4}"/>
              </a:ext>
            </a:extLst>
          </p:cNvPr>
          <p:cNvCxnSpPr>
            <a:cxnSpLocks/>
          </p:cNvCxnSpPr>
          <p:nvPr/>
        </p:nvCxnSpPr>
        <p:spPr>
          <a:xfrm>
            <a:off x="9141014" y="2243548"/>
            <a:ext cx="4" cy="13283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원통형 17">
            <a:extLst>
              <a:ext uri="{FF2B5EF4-FFF2-40B4-BE49-F238E27FC236}">
                <a16:creationId xmlns:a16="http://schemas.microsoft.com/office/drawing/2014/main" id="{A35CA86A-1A0E-0FCD-5879-4ED9737D6471}"/>
              </a:ext>
            </a:extLst>
          </p:cNvPr>
          <p:cNvSpPr/>
          <p:nvPr/>
        </p:nvSpPr>
        <p:spPr>
          <a:xfrm>
            <a:off x="8279011" y="3752850"/>
            <a:ext cx="1724009" cy="9525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ERP DB</a:t>
            </a:r>
            <a:endParaRPr lang="ko-KR" altLang="en-US" dirty="0"/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FD981CA7-C507-084C-6E8C-48684D11C729}"/>
              </a:ext>
            </a:extLst>
          </p:cNvPr>
          <p:cNvCxnSpPr>
            <a:cxnSpLocks/>
            <a:stCxn id="18" idx="2"/>
            <a:endCxn id="8" idx="1"/>
          </p:cNvCxnSpPr>
          <p:nvPr/>
        </p:nvCxnSpPr>
        <p:spPr>
          <a:xfrm rot="10800000">
            <a:off x="8081905" y="2015892"/>
            <a:ext cx="197107" cy="2213209"/>
          </a:xfrm>
          <a:prstGeom prst="bentConnector3">
            <a:avLst>
              <a:gd name="adj1" fmla="val 2159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4DB1072-7163-E3F8-C4F2-5AAC735FD2FD}"/>
              </a:ext>
            </a:extLst>
          </p:cNvPr>
          <p:cNvSpPr txBox="1"/>
          <p:nvPr/>
        </p:nvSpPr>
        <p:spPr>
          <a:xfrm>
            <a:off x="7496121" y="2733003"/>
            <a:ext cx="6620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결과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8C83DE-984B-A2CC-F7AB-39B82BA81CA9}"/>
              </a:ext>
            </a:extLst>
          </p:cNvPr>
          <p:cNvSpPr txBox="1"/>
          <p:nvPr/>
        </p:nvSpPr>
        <p:spPr>
          <a:xfrm>
            <a:off x="8809994" y="2714295"/>
            <a:ext cx="6620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조회</a:t>
            </a:r>
          </a:p>
        </p:txBody>
      </p:sp>
    </p:spTree>
    <p:extLst>
      <p:ext uri="{BB962C8B-B14F-4D97-AF65-F5344CB8AC3E}">
        <p14:creationId xmlns:p14="http://schemas.microsoft.com/office/powerpoint/2010/main" val="3977293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51D78-FEFE-F4DF-D573-ACD25C434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6649204C-39BE-AF57-FD28-96FB6BBD77B6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1F7E4E-D859-14D0-10D9-45D2F233E328}"/>
              </a:ext>
            </a:extLst>
          </p:cNvPr>
          <p:cNvSpPr txBox="1"/>
          <p:nvPr/>
        </p:nvSpPr>
        <p:spPr>
          <a:xfrm>
            <a:off x="210911" y="518621"/>
            <a:ext cx="30428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■ </a:t>
            </a:r>
            <a:r>
              <a:rPr lang="en-US" altLang="ko-KR" sz="1600" b="1" dirty="0"/>
              <a:t>CRS </a:t>
            </a:r>
            <a:r>
              <a:rPr lang="ko-KR" altLang="en-US" sz="1600" b="1" dirty="0"/>
              <a:t>연동 상세 내용</a:t>
            </a:r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C4A8FBCF-BBF1-A0C3-69A4-8753897A9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B81577E-5BC8-0D5C-FB2E-38C4678B7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2387C3-9C26-79D9-8B2A-4B29F35EEA4B}"/>
              </a:ext>
            </a:extLst>
          </p:cNvPr>
          <p:cNvSpPr txBox="1"/>
          <p:nvPr/>
        </p:nvSpPr>
        <p:spPr>
          <a:xfrm>
            <a:off x="532872" y="960533"/>
            <a:ext cx="575173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1-3. M</a:t>
            </a:r>
            <a:r>
              <a:rPr lang="ko-KR" altLang="en-US" sz="1600" b="1" dirty="0"/>
              <a:t>코드 생성 및 원료등록신청 </a:t>
            </a:r>
            <a:endParaRPr lang="en-US" altLang="ko-KR" sz="1600" b="1" dirty="0"/>
          </a:p>
          <a:p>
            <a:r>
              <a:rPr lang="en-US" altLang="ko-KR" sz="1600" dirty="0"/>
              <a:t>PLM </a:t>
            </a:r>
            <a:r>
              <a:rPr lang="ko-KR" altLang="en-US" sz="1600" dirty="0"/>
              <a:t>내 </a:t>
            </a:r>
            <a:r>
              <a:rPr lang="en-US" altLang="ko-KR" sz="1600" dirty="0"/>
              <a:t>M</a:t>
            </a:r>
            <a:r>
              <a:rPr lang="ko-KR" altLang="en-US" sz="1600" dirty="0"/>
              <a:t>코드 생성 및 </a:t>
            </a:r>
            <a:r>
              <a:rPr lang="en-US" altLang="ko-KR" sz="1600" dirty="0"/>
              <a:t>1</a:t>
            </a:r>
            <a:r>
              <a:rPr lang="ko-KR" altLang="en-US" sz="1600" dirty="0" err="1"/>
              <a:t>번코드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채번</a:t>
            </a:r>
            <a:r>
              <a:rPr lang="ko-KR" altLang="en-US" sz="1600" dirty="0"/>
              <a:t> 프로세스</a:t>
            </a:r>
            <a:endParaRPr lang="en-US" altLang="ko-KR" sz="1600" dirty="0"/>
          </a:p>
          <a:p>
            <a:endParaRPr lang="en-US" altLang="ko-KR" sz="1600" b="1" dirty="0"/>
          </a:p>
          <a:p>
            <a:r>
              <a:rPr lang="en-US" altLang="ko-KR" sz="1600" b="1" dirty="0"/>
              <a:t>-</a:t>
            </a:r>
            <a:r>
              <a:rPr lang="ko-KR" altLang="en-US" sz="1600" b="1" dirty="0"/>
              <a:t>연동 프로세스</a:t>
            </a:r>
            <a:endParaRPr lang="en-US" altLang="ko-KR" sz="1600" b="1" dirty="0"/>
          </a:p>
          <a:p>
            <a:r>
              <a:rPr lang="en-US" altLang="ko-KR" sz="1600" dirty="0"/>
              <a:t>  CRS </a:t>
            </a:r>
            <a:r>
              <a:rPr lang="ko-KR" altLang="en-US" sz="1600" dirty="0"/>
              <a:t>↔ </a:t>
            </a:r>
            <a:r>
              <a:rPr lang="en-US" altLang="ko-KR" sz="1600" dirty="0"/>
              <a:t>ERP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-</a:t>
            </a:r>
            <a:r>
              <a:rPr lang="ko-KR" altLang="en-US" sz="1600" b="1" dirty="0"/>
              <a:t> 연동 내용</a:t>
            </a:r>
            <a:endParaRPr lang="en-US" altLang="ko-KR" sz="1600" b="1" dirty="0"/>
          </a:p>
          <a:p>
            <a:r>
              <a:rPr lang="ko-KR" altLang="en-US" sz="1600" dirty="0"/>
              <a:t>  성분 기준 원료 및 품목 </a:t>
            </a:r>
            <a:r>
              <a:rPr lang="ko-KR" altLang="en-US" sz="1600" dirty="0" err="1"/>
              <a:t>역전개</a:t>
            </a:r>
            <a:r>
              <a:rPr lang="ko-KR" altLang="en-US" sz="1600" dirty="0"/>
              <a:t> 데이터 조회</a:t>
            </a:r>
            <a:endParaRPr lang="en-US" altLang="ko-KR" sz="1600" dirty="0"/>
          </a:p>
          <a:p>
            <a:endParaRPr lang="en-US" altLang="ko-KR" sz="1600" b="1" dirty="0"/>
          </a:p>
          <a:p>
            <a:r>
              <a:rPr lang="en-US" altLang="ko-KR" sz="1600" b="1" dirty="0"/>
              <a:t>-</a:t>
            </a:r>
            <a:r>
              <a:rPr lang="ko-KR" altLang="en-US" sz="1600" b="1" dirty="0"/>
              <a:t> 연동 방식</a:t>
            </a:r>
            <a:endParaRPr lang="en-US" altLang="ko-KR" sz="1600" b="1" dirty="0"/>
          </a:p>
          <a:p>
            <a:r>
              <a:rPr lang="en-US" altLang="ko-KR" sz="1600" b="1" dirty="0"/>
              <a:t>  </a:t>
            </a:r>
            <a:r>
              <a:rPr lang="en-US" altLang="ko-KR" sz="1600" dirty="0"/>
              <a:t>1) CRS </a:t>
            </a:r>
            <a:r>
              <a:rPr lang="ko-KR" altLang="en-US" sz="1600" dirty="0"/>
              <a:t>내 성분별 원료</a:t>
            </a:r>
            <a:r>
              <a:rPr lang="en-US" altLang="ko-KR" sz="1600" dirty="0"/>
              <a:t> </a:t>
            </a:r>
            <a:r>
              <a:rPr lang="ko-KR" altLang="en-US" sz="1600" dirty="0"/>
              <a:t>데이터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요청</a:t>
            </a:r>
            <a:endParaRPr lang="en-US" altLang="ko-KR" sz="1600" dirty="0"/>
          </a:p>
          <a:p>
            <a:r>
              <a:rPr lang="en-US" altLang="ko-KR" sz="1600" dirty="0"/>
              <a:t>  2) ERP </a:t>
            </a:r>
            <a:r>
              <a:rPr lang="ko-KR" altLang="en-US" sz="1600" dirty="0"/>
              <a:t>내 원료별 </a:t>
            </a:r>
            <a:r>
              <a:rPr lang="ko-KR" altLang="en-US" sz="1600" dirty="0" err="1"/>
              <a:t>벌크</a:t>
            </a:r>
            <a:r>
              <a:rPr lang="en-US" altLang="ko-KR" sz="1600" dirty="0"/>
              <a:t>(3</a:t>
            </a:r>
            <a:r>
              <a:rPr lang="ko-KR" altLang="en-US" sz="1600" dirty="0" err="1"/>
              <a:t>번품번</a:t>
            </a:r>
            <a:r>
              <a:rPr lang="en-US" altLang="ko-KR" sz="1600" dirty="0"/>
              <a:t>)</a:t>
            </a:r>
            <a:r>
              <a:rPr lang="ko-KR" altLang="en-US" sz="1600" dirty="0"/>
              <a:t> 데이터 제공 </a:t>
            </a:r>
            <a:r>
              <a:rPr lang="en-US" altLang="ko-KR" sz="1600" dirty="0"/>
              <a:t>  </a:t>
            </a:r>
          </a:p>
          <a:p>
            <a:r>
              <a:rPr lang="en-US" altLang="ko-KR" sz="1600" dirty="0"/>
              <a:t>  3) ERP </a:t>
            </a:r>
            <a:r>
              <a:rPr lang="ko-KR" altLang="en-US" sz="1600" dirty="0"/>
              <a:t>내 </a:t>
            </a:r>
            <a:r>
              <a:rPr lang="ko-KR" altLang="en-US" sz="1600" dirty="0" err="1"/>
              <a:t>벌크별</a:t>
            </a:r>
            <a:r>
              <a:rPr lang="ko-KR" altLang="en-US" sz="1600" dirty="0"/>
              <a:t> 제품</a:t>
            </a:r>
            <a:r>
              <a:rPr lang="en-US" altLang="ko-KR" sz="1600" dirty="0"/>
              <a:t>(5</a:t>
            </a:r>
            <a:r>
              <a:rPr lang="ko-KR" altLang="en-US" sz="1600" dirty="0" err="1"/>
              <a:t>번품번</a:t>
            </a:r>
            <a:r>
              <a:rPr lang="en-US" altLang="ko-KR" sz="1600" dirty="0"/>
              <a:t>) </a:t>
            </a:r>
            <a:r>
              <a:rPr lang="ko-KR" altLang="en-US" sz="1600" dirty="0"/>
              <a:t>데이터 제공</a:t>
            </a:r>
            <a:endParaRPr lang="en-US" altLang="ko-KR" sz="1600" dirty="0"/>
          </a:p>
          <a:p>
            <a:r>
              <a:rPr lang="en-US" altLang="ko-KR" sz="1600" dirty="0"/>
              <a:t>  4) ERP </a:t>
            </a:r>
            <a:r>
              <a:rPr lang="ko-KR" altLang="en-US" sz="1600" dirty="0"/>
              <a:t>내 </a:t>
            </a:r>
            <a:r>
              <a:rPr lang="en-US" altLang="ko-KR" sz="1600" dirty="0"/>
              <a:t>3</a:t>
            </a:r>
            <a:r>
              <a:rPr lang="ko-KR" altLang="en-US" sz="1600" dirty="0" err="1"/>
              <a:t>번품번별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랩넘버</a:t>
            </a:r>
            <a:r>
              <a:rPr lang="ko-KR" altLang="en-US" sz="1600" dirty="0"/>
              <a:t> 데이터 제공</a:t>
            </a:r>
          </a:p>
        </p:txBody>
      </p:sp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CC022F7F-2AC4-4A0C-F552-2809EF3DB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C887B6-5283-9EF7-91B4-9DEDF486FBDE}"/>
              </a:ext>
            </a:extLst>
          </p:cNvPr>
          <p:cNvSpPr txBox="1"/>
          <p:nvPr/>
        </p:nvSpPr>
        <p:spPr>
          <a:xfrm>
            <a:off x="49161" y="414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CRS </a:t>
            </a:r>
            <a:r>
              <a:rPr lang="ko-KR" altLang="en-US" b="1" dirty="0"/>
              <a:t>연동 목록</a:t>
            </a:r>
            <a:endParaRPr lang="ko-KR" altLang="en-US" sz="18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B678FE2-DED3-1CFA-A695-098E63273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462" y="549830"/>
            <a:ext cx="4179256" cy="16306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21AB2E-310C-26F9-9B84-8CC8DFC19B86}"/>
              </a:ext>
            </a:extLst>
          </p:cNvPr>
          <p:cNvSpPr txBox="1"/>
          <p:nvPr/>
        </p:nvSpPr>
        <p:spPr>
          <a:xfrm>
            <a:off x="8328611" y="2155904"/>
            <a:ext cx="1744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[PLM] M</a:t>
            </a:r>
            <a:r>
              <a:rPr lang="ko-KR" altLang="en-US" sz="1400" b="1" dirty="0"/>
              <a:t>코드 생성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A4C5375-433D-86B0-A3B2-F064928CD8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836" y="4644673"/>
            <a:ext cx="3890511" cy="19631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9AFD8A9-EDF7-CC7F-4622-12F2A8D167C2}"/>
              </a:ext>
            </a:extLst>
          </p:cNvPr>
          <p:cNvSpPr txBox="1"/>
          <p:nvPr/>
        </p:nvSpPr>
        <p:spPr>
          <a:xfrm>
            <a:off x="8488207" y="4346074"/>
            <a:ext cx="1483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[ERP] </a:t>
            </a:r>
            <a:r>
              <a:rPr lang="ko-KR" altLang="en-US" sz="1400" b="1" dirty="0"/>
              <a:t>코드 </a:t>
            </a:r>
            <a:r>
              <a:rPr lang="ko-KR" altLang="en-US" sz="1400" b="1" dirty="0" err="1"/>
              <a:t>채번</a:t>
            </a:r>
            <a:endParaRPr lang="ko-KR" altLang="en-US" sz="1400" b="1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360D9A4-9E1F-F390-1C4B-EDEAB26C24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5643" y="2928577"/>
            <a:ext cx="2350894" cy="5531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07ECF0B-F929-9824-A0C4-E1E85E794048}"/>
              </a:ext>
            </a:extLst>
          </p:cNvPr>
          <p:cNvSpPr txBox="1"/>
          <p:nvPr/>
        </p:nvSpPr>
        <p:spPr>
          <a:xfrm>
            <a:off x="8488207" y="3487827"/>
            <a:ext cx="1483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[CRS]</a:t>
            </a:r>
            <a:r>
              <a:rPr lang="ko-KR" altLang="en-US" sz="1400" b="1" dirty="0"/>
              <a:t>성분등록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A574A69-FD99-4A8F-194B-B4B87C131E2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201092" y="2463681"/>
            <a:ext cx="0" cy="393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BE309DB-C071-6D35-5188-C4B3D13BB063}"/>
              </a:ext>
            </a:extLst>
          </p:cNvPr>
          <p:cNvCxnSpPr>
            <a:cxnSpLocks/>
            <a:stCxn id="16" idx="2"/>
            <a:endCxn id="13" idx="0"/>
          </p:cNvCxnSpPr>
          <p:nvPr/>
        </p:nvCxnSpPr>
        <p:spPr>
          <a:xfrm>
            <a:off x="9229725" y="3795604"/>
            <a:ext cx="0" cy="550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5900DA59-98DD-2AC0-407B-C040E36572A2}"/>
              </a:ext>
            </a:extLst>
          </p:cNvPr>
          <p:cNvCxnSpPr>
            <a:stCxn id="11" idx="1"/>
            <a:endCxn id="8" idx="1"/>
          </p:cNvCxnSpPr>
          <p:nvPr/>
        </p:nvCxnSpPr>
        <p:spPr>
          <a:xfrm rot="10800000">
            <a:off x="7111462" y="1365138"/>
            <a:ext cx="144374" cy="4261086"/>
          </a:xfrm>
          <a:prstGeom prst="bentConnector3">
            <a:avLst>
              <a:gd name="adj1" fmla="val 52223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B9476C5F-7B19-6436-F619-78979A7B348B}"/>
              </a:ext>
            </a:extLst>
          </p:cNvPr>
          <p:cNvCxnSpPr>
            <a:stCxn id="11" idx="1"/>
            <a:endCxn id="14" idx="1"/>
          </p:cNvCxnSpPr>
          <p:nvPr/>
        </p:nvCxnSpPr>
        <p:spPr>
          <a:xfrm rot="10800000" flipH="1">
            <a:off x="7255835" y="3205154"/>
            <a:ext cx="769807" cy="2421071"/>
          </a:xfrm>
          <a:prstGeom prst="bentConnector3">
            <a:avLst>
              <a:gd name="adj1" fmla="val -9774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28B8CA0-3711-4CC0-2BAF-E1492C7EE723}"/>
              </a:ext>
            </a:extLst>
          </p:cNvPr>
          <p:cNvSpPr txBox="1"/>
          <p:nvPr/>
        </p:nvSpPr>
        <p:spPr>
          <a:xfrm>
            <a:off x="5878354" y="4346074"/>
            <a:ext cx="127192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</a:t>
            </a:r>
            <a:r>
              <a:rPr lang="ko-KR" altLang="en-US" sz="1400" b="1" dirty="0" err="1"/>
              <a:t>번코드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채번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052976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D0558-06E9-E43B-ADE6-8B032CA0D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1AB8D4FF-2A2B-37FB-79BF-57600822C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AFD50D4B-D4D7-6D6E-5D08-AEBBE0C6A4C6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41C14E-CF78-102B-44E1-BE90C3DC4C04}"/>
              </a:ext>
            </a:extLst>
          </p:cNvPr>
          <p:cNvSpPr txBox="1"/>
          <p:nvPr/>
        </p:nvSpPr>
        <p:spPr>
          <a:xfrm>
            <a:off x="210911" y="518621"/>
            <a:ext cx="30428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■ </a:t>
            </a:r>
            <a:r>
              <a:rPr lang="en-US" altLang="ko-KR" sz="1600" b="1" dirty="0"/>
              <a:t>CRS </a:t>
            </a:r>
            <a:r>
              <a:rPr lang="ko-KR" altLang="en-US" sz="1600" b="1" dirty="0"/>
              <a:t>연동 상세 내용</a:t>
            </a:r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04DAF699-AD7C-3CF5-CCA3-3ACE47E62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D7EAD398-D031-59C6-7865-9138E94DF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B51107-3B29-623D-8AB3-C8973E45EBCA}"/>
              </a:ext>
            </a:extLst>
          </p:cNvPr>
          <p:cNvSpPr txBox="1"/>
          <p:nvPr/>
        </p:nvSpPr>
        <p:spPr>
          <a:xfrm>
            <a:off x="532872" y="960533"/>
            <a:ext cx="575173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1-4. Recipe Data </a:t>
            </a:r>
            <a:r>
              <a:rPr lang="ko-KR" altLang="en-US" sz="1600" b="1" dirty="0"/>
              <a:t>전성분등록</a:t>
            </a:r>
            <a:endParaRPr lang="en-US" altLang="ko-KR" sz="1600" b="1" dirty="0"/>
          </a:p>
          <a:p>
            <a:r>
              <a:rPr lang="en-US" altLang="ko-KR" sz="1600" dirty="0"/>
              <a:t>PLM </a:t>
            </a:r>
            <a:r>
              <a:rPr lang="ko-KR" altLang="en-US" sz="1600" dirty="0"/>
              <a:t>내 전성분등록 시 </a:t>
            </a:r>
            <a:r>
              <a:rPr lang="en-US" altLang="ko-KR" sz="1600" dirty="0"/>
              <a:t>CRS </a:t>
            </a:r>
            <a:r>
              <a:rPr lang="ko-KR" altLang="en-US" sz="1600" dirty="0"/>
              <a:t>연동 프로세스</a:t>
            </a:r>
            <a:endParaRPr lang="en-US" altLang="ko-KR" sz="1600" dirty="0"/>
          </a:p>
          <a:p>
            <a:endParaRPr lang="en-US" altLang="ko-KR" sz="1600" b="1" dirty="0"/>
          </a:p>
          <a:p>
            <a:r>
              <a:rPr lang="en-US" altLang="ko-KR" sz="1600" b="1" dirty="0"/>
              <a:t>-</a:t>
            </a:r>
            <a:r>
              <a:rPr lang="ko-KR" altLang="en-US" sz="1600" b="1" dirty="0"/>
              <a:t> 연동 프로세스</a:t>
            </a:r>
            <a:endParaRPr lang="en-US" altLang="ko-KR" sz="1600" b="1" dirty="0"/>
          </a:p>
          <a:p>
            <a:r>
              <a:rPr lang="en-US" altLang="ko-KR" sz="1600" dirty="0"/>
              <a:t>  CRS </a:t>
            </a:r>
            <a:r>
              <a:rPr lang="ko-KR" altLang="en-US" sz="1600" dirty="0"/>
              <a:t>→ </a:t>
            </a:r>
            <a:r>
              <a:rPr lang="en-US" altLang="ko-KR" sz="1600" dirty="0"/>
              <a:t>ERP, CRS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-</a:t>
            </a:r>
            <a:r>
              <a:rPr lang="ko-KR" altLang="en-US" sz="1600" b="1" dirty="0"/>
              <a:t> 연동 내용</a:t>
            </a:r>
            <a:endParaRPr lang="en-US" altLang="ko-KR" sz="1600" b="1" dirty="0"/>
          </a:p>
          <a:p>
            <a:r>
              <a:rPr lang="ko-KR" altLang="en-US" sz="1600" dirty="0"/>
              <a:t>  </a:t>
            </a:r>
            <a:r>
              <a:rPr lang="en-US" altLang="ko-KR" sz="1600" dirty="0"/>
              <a:t>PLM </a:t>
            </a:r>
            <a:r>
              <a:rPr lang="ko-KR" altLang="en-US" sz="1600" dirty="0"/>
              <a:t>전성분등록시 </a:t>
            </a:r>
            <a:r>
              <a:rPr lang="en-US" altLang="ko-KR" sz="1600" dirty="0"/>
              <a:t>CRS DB </a:t>
            </a:r>
            <a:r>
              <a:rPr lang="ko-KR" altLang="en-US" sz="1600" dirty="0"/>
              <a:t>기입</a:t>
            </a:r>
            <a:r>
              <a:rPr lang="en-US" altLang="ko-KR" sz="1600" dirty="0"/>
              <a:t>, ERP </a:t>
            </a:r>
            <a:r>
              <a:rPr lang="ko-KR" altLang="en-US" sz="1600" dirty="0"/>
              <a:t>연동</a:t>
            </a:r>
            <a:endParaRPr lang="en-US" altLang="ko-KR" sz="1600" dirty="0"/>
          </a:p>
          <a:p>
            <a:r>
              <a:rPr lang="en-US" altLang="ko-KR" sz="1600" dirty="0"/>
              <a:t>  PLM </a:t>
            </a:r>
            <a:r>
              <a:rPr lang="ko-KR" altLang="en-US" sz="1600" dirty="0"/>
              <a:t>전성분등록 </a:t>
            </a:r>
            <a:r>
              <a:rPr lang="ko-KR" altLang="en-US" sz="1600" dirty="0" err="1"/>
              <a:t>취소시</a:t>
            </a:r>
            <a:r>
              <a:rPr lang="ko-KR" altLang="en-US" sz="1600" dirty="0"/>
              <a:t> </a:t>
            </a:r>
            <a:r>
              <a:rPr lang="en-US" altLang="ko-KR" sz="1600" dirty="0"/>
              <a:t>CRS DB </a:t>
            </a:r>
            <a:r>
              <a:rPr lang="ko-KR" altLang="en-US" sz="1600" dirty="0"/>
              <a:t>기능</a:t>
            </a:r>
            <a:r>
              <a:rPr lang="en-US" altLang="ko-KR" sz="1600" dirty="0"/>
              <a:t>, ERP </a:t>
            </a:r>
            <a:r>
              <a:rPr lang="ko-KR" altLang="en-US" sz="1600" dirty="0"/>
              <a:t>연동</a:t>
            </a:r>
            <a:endParaRPr lang="en-US" altLang="ko-KR" sz="1600" dirty="0"/>
          </a:p>
          <a:p>
            <a:endParaRPr lang="en-US" altLang="ko-KR" sz="1600" b="1" dirty="0"/>
          </a:p>
          <a:p>
            <a:r>
              <a:rPr lang="en-US" altLang="ko-KR" sz="1600" b="1" dirty="0"/>
              <a:t>-</a:t>
            </a:r>
            <a:r>
              <a:rPr lang="ko-KR" altLang="en-US" sz="1600" b="1" dirty="0"/>
              <a:t> 연동 방식</a:t>
            </a:r>
            <a:endParaRPr lang="en-US" altLang="ko-KR" sz="1600" b="1" dirty="0"/>
          </a:p>
          <a:p>
            <a:r>
              <a:rPr lang="en-US" altLang="ko-KR" sz="1600" dirty="0"/>
              <a:t>  *</a:t>
            </a:r>
            <a:r>
              <a:rPr lang="ko-KR" altLang="en-US" sz="1600" dirty="0"/>
              <a:t>하기 페이지 참조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AB1B19-2279-7BB2-A755-C115CA908EF1}"/>
              </a:ext>
            </a:extLst>
          </p:cNvPr>
          <p:cNvSpPr txBox="1"/>
          <p:nvPr/>
        </p:nvSpPr>
        <p:spPr>
          <a:xfrm>
            <a:off x="49161" y="414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CRS </a:t>
            </a:r>
            <a:r>
              <a:rPr lang="ko-KR" altLang="en-US" b="1" dirty="0"/>
              <a:t>연동 목록</a:t>
            </a:r>
            <a:endParaRPr lang="ko-KR" altLang="en-US" sz="18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3EF4709-AE3E-4BD6-AAC7-1A0DBF66B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178" y="1235741"/>
            <a:ext cx="3394209" cy="17468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2AE5AD-3913-F75D-BA58-533B0C797DE2}"/>
              </a:ext>
            </a:extLst>
          </p:cNvPr>
          <p:cNvSpPr txBox="1"/>
          <p:nvPr/>
        </p:nvSpPr>
        <p:spPr>
          <a:xfrm>
            <a:off x="7903275" y="3083100"/>
            <a:ext cx="210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[PLM</a:t>
            </a:r>
            <a:r>
              <a:rPr lang="en-US" altLang="ko-KR" sz="1400" b="1"/>
              <a:t>] </a:t>
            </a:r>
            <a:r>
              <a:rPr lang="ko-KR" altLang="en-US" sz="1400" b="1" dirty="0"/>
              <a:t>전성분등록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취소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BD023C6-59A6-6305-A489-BD686339E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4610" y="4401488"/>
            <a:ext cx="2350894" cy="5531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B5451B-A722-8E6F-5B26-A0DC9D3D47DB}"/>
              </a:ext>
            </a:extLst>
          </p:cNvPr>
          <p:cNvSpPr txBox="1"/>
          <p:nvPr/>
        </p:nvSpPr>
        <p:spPr>
          <a:xfrm>
            <a:off x="6488193" y="5303145"/>
            <a:ext cx="1943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[CRS]Data</a:t>
            </a:r>
            <a:r>
              <a:rPr lang="ko-KR" altLang="en-US" sz="1400" b="1" dirty="0"/>
              <a:t> 기입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삭제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A65F147-5519-8EB3-3F64-F2DFC24A2E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7312" y="4315159"/>
            <a:ext cx="2780145" cy="9195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C95BDE2-12AF-2782-5317-79EC21E0858F}"/>
              </a:ext>
            </a:extLst>
          </p:cNvPr>
          <p:cNvSpPr txBox="1"/>
          <p:nvPr/>
        </p:nvSpPr>
        <p:spPr>
          <a:xfrm>
            <a:off x="9499749" y="5293174"/>
            <a:ext cx="1943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[ERP]</a:t>
            </a:r>
            <a:r>
              <a:rPr lang="en-US" altLang="ko-KR" sz="1400" b="1"/>
              <a:t>Data</a:t>
            </a:r>
            <a:r>
              <a:rPr lang="ko-KR" altLang="en-US" sz="1400" b="1" dirty="0"/>
              <a:t> 기입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삭제</a:t>
            </a: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C1BDA05A-1AAE-1822-FA58-CD38231B2FF2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5400000">
            <a:off x="7703380" y="3147555"/>
            <a:ext cx="1010611" cy="149725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B8DC7AA1-3119-361C-FAA9-9DD608818D96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 rot="16200000" flipH="1">
            <a:off x="9190207" y="3157981"/>
            <a:ext cx="924282" cy="1390073"/>
          </a:xfrm>
          <a:prstGeom prst="bentConnector3">
            <a:avLst>
              <a:gd name="adj1" fmla="val 5412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373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6E66F-4970-C57F-EC03-97105ECB4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D294B37F-13E6-5F2E-4140-92ECCF9E0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38EB9206-4A88-EAEB-D4B9-B63B827F56E7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63F615-B162-3287-035E-8778FF3216EB}"/>
              </a:ext>
            </a:extLst>
          </p:cNvPr>
          <p:cNvSpPr txBox="1"/>
          <p:nvPr/>
        </p:nvSpPr>
        <p:spPr>
          <a:xfrm>
            <a:off x="210911" y="518621"/>
            <a:ext cx="30428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■ </a:t>
            </a:r>
            <a:r>
              <a:rPr lang="en-US" altLang="ko-KR" sz="1600" b="1" dirty="0"/>
              <a:t>CRS </a:t>
            </a:r>
            <a:r>
              <a:rPr lang="ko-KR" altLang="en-US" sz="1600" b="1" dirty="0"/>
              <a:t>연동 상세 내용</a:t>
            </a:r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B7CF84BC-8759-7848-3844-92B2F91A5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FB8F7485-ACAD-231F-111F-AF53E53CE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2F2BF1-320A-FC67-1A4E-C18355293E9D}"/>
              </a:ext>
            </a:extLst>
          </p:cNvPr>
          <p:cNvSpPr txBox="1"/>
          <p:nvPr/>
        </p:nvSpPr>
        <p:spPr>
          <a:xfrm>
            <a:off x="532872" y="960533"/>
            <a:ext cx="575173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1-5. Recipe Data </a:t>
            </a:r>
            <a:r>
              <a:rPr lang="ko-KR" altLang="en-US" sz="1600" b="1" dirty="0"/>
              <a:t>처방확정</a:t>
            </a:r>
            <a:endParaRPr lang="en-US" altLang="ko-KR" sz="1600" b="1" dirty="0"/>
          </a:p>
          <a:p>
            <a:r>
              <a:rPr lang="en-US" altLang="ko-KR" sz="1600" dirty="0"/>
              <a:t>PLM </a:t>
            </a:r>
            <a:r>
              <a:rPr lang="ko-KR" altLang="en-US" sz="1600" dirty="0"/>
              <a:t>내 처방확정 시 </a:t>
            </a:r>
            <a:r>
              <a:rPr lang="en-US" altLang="ko-KR" sz="1600" dirty="0"/>
              <a:t>CRS </a:t>
            </a:r>
            <a:r>
              <a:rPr lang="ko-KR" altLang="en-US" sz="1600" dirty="0"/>
              <a:t>연동 프로세스</a:t>
            </a:r>
            <a:endParaRPr lang="en-US" altLang="ko-KR" sz="1600" dirty="0"/>
          </a:p>
          <a:p>
            <a:endParaRPr lang="en-US" altLang="ko-KR" sz="1600" b="1" dirty="0"/>
          </a:p>
          <a:p>
            <a:r>
              <a:rPr lang="en-US" altLang="ko-KR" sz="1600" b="1" dirty="0"/>
              <a:t>-</a:t>
            </a:r>
            <a:r>
              <a:rPr lang="ko-KR" altLang="en-US" sz="1600" b="1" dirty="0"/>
              <a:t> 연동 프로세스</a:t>
            </a:r>
            <a:endParaRPr lang="en-US" altLang="ko-KR" sz="1600" b="1" dirty="0"/>
          </a:p>
          <a:p>
            <a:r>
              <a:rPr lang="en-US" altLang="ko-KR" sz="1600" dirty="0"/>
              <a:t>  CRS </a:t>
            </a:r>
            <a:r>
              <a:rPr lang="ko-KR" altLang="en-US" sz="1600" dirty="0"/>
              <a:t>→ </a:t>
            </a:r>
            <a:r>
              <a:rPr lang="en-US" altLang="ko-KR" sz="1600" dirty="0"/>
              <a:t>ERP, CRS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-</a:t>
            </a:r>
            <a:r>
              <a:rPr lang="ko-KR" altLang="en-US" sz="1600" b="1" dirty="0"/>
              <a:t> 연동 내용</a:t>
            </a:r>
            <a:endParaRPr lang="en-US" altLang="ko-KR" sz="1600" b="1" dirty="0"/>
          </a:p>
          <a:p>
            <a:r>
              <a:rPr lang="ko-KR" altLang="en-US" sz="1600" dirty="0"/>
              <a:t>  </a:t>
            </a:r>
            <a:r>
              <a:rPr lang="en-US" altLang="ko-KR" sz="1600" dirty="0"/>
              <a:t>PLM </a:t>
            </a:r>
            <a:r>
              <a:rPr lang="ko-KR" altLang="en-US" sz="1600" dirty="0"/>
              <a:t>처방확정시 </a:t>
            </a:r>
            <a:r>
              <a:rPr lang="en-US" altLang="ko-KR" sz="1600" dirty="0"/>
              <a:t>CRS DB </a:t>
            </a:r>
            <a:r>
              <a:rPr lang="ko-KR" altLang="en-US" sz="1600" dirty="0"/>
              <a:t>기입</a:t>
            </a:r>
            <a:r>
              <a:rPr lang="en-US" altLang="ko-KR" sz="1600" dirty="0"/>
              <a:t>, ERP </a:t>
            </a:r>
            <a:r>
              <a:rPr lang="ko-KR" altLang="en-US" sz="1600" dirty="0"/>
              <a:t>연동</a:t>
            </a:r>
            <a:endParaRPr lang="en-US" altLang="ko-KR" sz="1600" dirty="0"/>
          </a:p>
          <a:p>
            <a:r>
              <a:rPr lang="en-US" altLang="ko-KR" sz="1600" dirty="0"/>
              <a:t>  PLM </a:t>
            </a:r>
            <a:r>
              <a:rPr lang="ko-KR" altLang="en-US" sz="1600" dirty="0"/>
              <a:t>처방확정 </a:t>
            </a:r>
            <a:r>
              <a:rPr lang="ko-KR" altLang="en-US" sz="1600" dirty="0" err="1"/>
              <a:t>취소시</a:t>
            </a:r>
            <a:r>
              <a:rPr lang="ko-KR" altLang="en-US" sz="1600" dirty="0"/>
              <a:t> </a:t>
            </a:r>
            <a:r>
              <a:rPr lang="en-US" altLang="ko-KR" sz="1600" dirty="0"/>
              <a:t>CRS DB </a:t>
            </a:r>
            <a:r>
              <a:rPr lang="ko-KR" altLang="en-US" sz="1600" dirty="0"/>
              <a:t>기능</a:t>
            </a:r>
            <a:r>
              <a:rPr lang="en-US" altLang="ko-KR" sz="1600" dirty="0"/>
              <a:t>, ERP </a:t>
            </a:r>
            <a:r>
              <a:rPr lang="ko-KR" altLang="en-US" sz="1600" dirty="0"/>
              <a:t>연동</a:t>
            </a:r>
            <a:endParaRPr lang="en-US" altLang="ko-KR" sz="1600" dirty="0"/>
          </a:p>
          <a:p>
            <a:endParaRPr lang="en-US" altLang="ko-KR" sz="1600" b="1" dirty="0"/>
          </a:p>
          <a:p>
            <a:r>
              <a:rPr lang="en-US" altLang="ko-KR" sz="1600" b="1" dirty="0"/>
              <a:t>-</a:t>
            </a:r>
            <a:r>
              <a:rPr lang="ko-KR" altLang="en-US" sz="1600" b="1" dirty="0"/>
              <a:t> 연동 방식</a:t>
            </a:r>
            <a:endParaRPr lang="en-US" altLang="ko-KR" sz="1600" b="1" dirty="0"/>
          </a:p>
          <a:p>
            <a:r>
              <a:rPr lang="en-US" altLang="ko-KR" sz="1600" dirty="0"/>
              <a:t>  *</a:t>
            </a:r>
            <a:r>
              <a:rPr lang="ko-KR" altLang="en-US" sz="1600" dirty="0"/>
              <a:t>하기 페이지 참조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5352ED-7708-4DA0-2216-3A653FB22DF1}"/>
              </a:ext>
            </a:extLst>
          </p:cNvPr>
          <p:cNvSpPr txBox="1"/>
          <p:nvPr/>
        </p:nvSpPr>
        <p:spPr>
          <a:xfrm>
            <a:off x="49161" y="414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CRS </a:t>
            </a:r>
            <a:r>
              <a:rPr lang="ko-KR" altLang="en-US" b="1" dirty="0"/>
              <a:t>연동 목록</a:t>
            </a:r>
            <a:endParaRPr lang="ko-KR" altLang="en-US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9568C-F66C-D347-9A0F-2A6CA5583893}"/>
              </a:ext>
            </a:extLst>
          </p:cNvPr>
          <p:cNvSpPr txBox="1"/>
          <p:nvPr/>
        </p:nvSpPr>
        <p:spPr>
          <a:xfrm>
            <a:off x="7903275" y="3083100"/>
            <a:ext cx="210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[PLM] </a:t>
            </a:r>
            <a:r>
              <a:rPr lang="ko-KR" altLang="en-US" sz="1400" b="1" dirty="0"/>
              <a:t>처방확정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취소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5ED6D14-2715-92BC-37CD-451C2209B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610" y="4401488"/>
            <a:ext cx="2350894" cy="5531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F7D21A-E829-0349-3CC6-F186B0674E2E}"/>
              </a:ext>
            </a:extLst>
          </p:cNvPr>
          <p:cNvSpPr txBox="1"/>
          <p:nvPr/>
        </p:nvSpPr>
        <p:spPr>
          <a:xfrm>
            <a:off x="6488193" y="5303145"/>
            <a:ext cx="1943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[CRS]Data</a:t>
            </a:r>
            <a:r>
              <a:rPr lang="ko-KR" altLang="en-US" sz="1400" b="1" dirty="0"/>
              <a:t> 기입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삭제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523F5DE-3C25-C62F-1412-80F22CC987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7312" y="4315159"/>
            <a:ext cx="2780145" cy="9195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A9FA7C-280F-1A35-2885-D2AE69512A45}"/>
              </a:ext>
            </a:extLst>
          </p:cNvPr>
          <p:cNvSpPr txBox="1"/>
          <p:nvPr/>
        </p:nvSpPr>
        <p:spPr>
          <a:xfrm>
            <a:off x="9499749" y="5293174"/>
            <a:ext cx="1943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[ERP]</a:t>
            </a:r>
            <a:r>
              <a:rPr lang="en-US" altLang="ko-KR" sz="1400" b="1"/>
              <a:t>Data</a:t>
            </a:r>
            <a:r>
              <a:rPr lang="ko-KR" altLang="en-US" sz="1400" b="1" dirty="0"/>
              <a:t> 기입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삭제</a:t>
            </a: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67898C55-44FA-6295-C9C1-ACB43891D0F2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>
            <a:off x="7703380" y="3147555"/>
            <a:ext cx="1010611" cy="149725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7B387701-0A17-5712-07F8-C42B64E02D5F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16200000" flipH="1">
            <a:off x="9190207" y="3157981"/>
            <a:ext cx="924282" cy="1390073"/>
          </a:xfrm>
          <a:prstGeom prst="bentConnector3">
            <a:avLst>
              <a:gd name="adj1" fmla="val 5412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C30885E7-C6F7-F09D-E8C5-0D3EEC65C2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8263" y="1300173"/>
            <a:ext cx="3590584" cy="169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88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B4AF0-7401-26F5-897A-4DEFFA2CF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A2237807-180F-42C1-C404-0DEF85A24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BB6CAC16-163E-2475-87EF-A4E5D75E4F2B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51E9C8-7511-F72B-5107-C9F854075B63}"/>
              </a:ext>
            </a:extLst>
          </p:cNvPr>
          <p:cNvSpPr txBox="1"/>
          <p:nvPr/>
        </p:nvSpPr>
        <p:spPr>
          <a:xfrm>
            <a:off x="210911" y="518621"/>
            <a:ext cx="30428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■ </a:t>
            </a:r>
            <a:r>
              <a:rPr lang="en-US" altLang="ko-KR" sz="1600" b="1" dirty="0"/>
              <a:t>CRS </a:t>
            </a:r>
            <a:r>
              <a:rPr lang="ko-KR" altLang="en-US" sz="1600" b="1" dirty="0"/>
              <a:t>연동 상세 내용</a:t>
            </a:r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EC6F91A8-9C81-7438-943B-B94702300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DC06C0E-E581-8FA5-A3C2-BC719EB1E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E900A7-8335-C5A1-2E2F-95CB20C31C64}"/>
              </a:ext>
            </a:extLst>
          </p:cNvPr>
          <p:cNvSpPr txBox="1"/>
          <p:nvPr/>
        </p:nvSpPr>
        <p:spPr>
          <a:xfrm>
            <a:off x="532872" y="960533"/>
            <a:ext cx="575173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1-6. PLM </a:t>
            </a:r>
            <a:r>
              <a:rPr lang="ko-KR" altLang="en-US" sz="1600" b="1" dirty="0"/>
              <a:t>내 </a:t>
            </a:r>
            <a:r>
              <a:rPr lang="en-US" altLang="ko-KR" sz="1600" b="1" dirty="0"/>
              <a:t>CRS </a:t>
            </a:r>
            <a:r>
              <a:rPr lang="ko-KR" altLang="en-US" sz="1600" b="1" dirty="0"/>
              <a:t>규제 검토</a:t>
            </a:r>
            <a:endParaRPr lang="en-US" altLang="ko-KR" sz="1600" b="1" dirty="0"/>
          </a:p>
          <a:p>
            <a:r>
              <a:rPr lang="en-US" altLang="ko-KR" sz="1600" dirty="0"/>
              <a:t>PLM </a:t>
            </a:r>
            <a:r>
              <a:rPr lang="ko-KR" altLang="en-US" sz="1600" dirty="0"/>
              <a:t>내 </a:t>
            </a:r>
            <a:r>
              <a:rPr lang="ko-KR" altLang="en-US" sz="1600" dirty="0" err="1"/>
              <a:t>랩넘버에서</a:t>
            </a:r>
            <a:r>
              <a:rPr lang="ko-KR" altLang="en-US" sz="1600" dirty="0"/>
              <a:t> 규제 </a:t>
            </a:r>
            <a:r>
              <a:rPr lang="ko-KR" altLang="en-US" sz="1600" dirty="0" err="1"/>
              <a:t>검토시</a:t>
            </a:r>
            <a:r>
              <a:rPr lang="ko-KR" altLang="en-US" sz="1600" dirty="0"/>
              <a:t> 프로세스</a:t>
            </a:r>
            <a:endParaRPr lang="en-US" altLang="ko-KR" sz="1600" dirty="0"/>
          </a:p>
          <a:p>
            <a:endParaRPr lang="en-US" altLang="ko-KR" sz="1600" b="1" dirty="0"/>
          </a:p>
          <a:p>
            <a:r>
              <a:rPr lang="en-US" altLang="ko-KR" sz="1600" b="1" dirty="0"/>
              <a:t>-</a:t>
            </a:r>
            <a:r>
              <a:rPr lang="ko-KR" altLang="en-US" sz="1600" b="1" dirty="0"/>
              <a:t> 연동 프로세스</a:t>
            </a:r>
            <a:endParaRPr lang="en-US" altLang="ko-KR" sz="1600" b="1" dirty="0"/>
          </a:p>
          <a:p>
            <a:r>
              <a:rPr lang="en-US" altLang="ko-KR" sz="1600" dirty="0"/>
              <a:t>  PLM </a:t>
            </a:r>
            <a:r>
              <a:rPr lang="ko-KR" altLang="en-US" sz="1600" dirty="0"/>
              <a:t>→ </a:t>
            </a:r>
            <a:r>
              <a:rPr lang="en-US" altLang="ko-KR" sz="1600" dirty="0"/>
              <a:t>CRS </a:t>
            </a:r>
            <a:r>
              <a:rPr lang="ko-KR" altLang="en-US" sz="1600" dirty="0"/>
              <a:t>→ </a:t>
            </a:r>
            <a:r>
              <a:rPr lang="en-US" altLang="ko-KR" sz="1600" dirty="0"/>
              <a:t>PLM(</a:t>
            </a:r>
            <a:r>
              <a:rPr lang="ko-KR" altLang="en-US" sz="1600" dirty="0"/>
              <a:t>신규 팝업</a:t>
            </a:r>
            <a:r>
              <a:rPr lang="en-US" altLang="ko-KR" sz="1600" dirty="0"/>
              <a:t>)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-</a:t>
            </a:r>
            <a:r>
              <a:rPr lang="ko-KR" altLang="en-US" sz="1600" b="1" dirty="0"/>
              <a:t> 연동 내용</a:t>
            </a:r>
            <a:endParaRPr lang="en-US" altLang="ko-KR" sz="1600" b="1" dirty="0"/>
          </a:p>
          <a:p>
            <a:r>
              <a:rPr lang="ko-KR" altLang="en-US" sz="1600" dirty="0"/>
              <a:t>  </a:t>
            </a:r>
            <a:r>
              <a:rPr lang="en-US" altLang="ko-KR" sz="1600" dirty="0"/>
              <a:t>PLM </a:t>
            </a:r>
            <a:r>
              <a:rPr lang="ko-KR" altLang="en-US" sz="1600" dirty="0" err="1"/>
              <a:t>랩넘버</a:t>
            </a:r>
            <a:r>
              <a:rPr lang="ko-KR" altLang="en-US" sz="1600" dirty="0"/>
              <a:t> 규제 검토 </a:t>
            </a:r>
            <a:r>
              <a:rPr lang="ko-KR" altLang="en-US" sz="1600" dirty="0" err="1"/>
              <a:t>요청시</a:t>
            </a:r>
            <a:r>
              <a:rPr lang="ko-KR" altLang="en-US" sz="1600" dirty="0"/>
              <a:t> </a:t>
            </a:r>
            <a:r>
              <a:rPr lang="en-US" altLang="ko-KR" sz="1600" dirty="0"/>
              <a:t>CRS DB </a:t>
            </a:r>
            <a:r>
              <a:rPr lang="ko-KR" altLang="en-US" sz="1600" dirty="0"/>
              <a:t>기입</a:t>
            </a:r>
            <a:endParaRPr lang="en-US" altLang="ko-KR" sz="1600" dirty="0"/>
          </a:p>
          <a:p>
            <a:r>
              <a:rPr lang="en-US" altLang="ko-KR" sz="1600" dirty="0"/>
              <a:t>  </a:t>
            </a:r>
            <a:r>
              <a:rPr lang="ko-KR" altLang="en-US" sz="1600" dirty="0"/>
              <a:t>신규 </a:t>
            </a:r>
            <a:r>
              <a:rPr lang="ko-KR" altLang="en-US" sz="1600" dirty="0" err="1"/>
              <a:t>팝업창</a:t>
            </a:r>
            <a:r>
              <a:rPr lang="ko-KR" altLang="en-US" sz="1600" dirty="0"/>
              <a:t> 내 규제 검토 결과 조회</a:t>
            </a:r>
            <a:endParaRPr lang="en-US" altLang="ko-KR" sz="1600" dirty="0"/>
          </a:p>
          <a:p>
            <a:endParaRPr lang="en-US" altLang="ko-KR" sz="1600" b="1" dirty="0"/>
          </a:p>
          <a:p>
            <a:r>
              <a:rPr lang="en-US" altLang="ko-KR" sz="1600" b="1" dirty="0"/>
              <a:t>-</a:t>
            </a:r>
            <a:r>
              <a:rPr lang="ko-KR" altLang="en-US" sz="1600" b="1" dirty="0"/>
              <a:t> 연동 방식</a:t>
            </a:r>
            <a:endParaRPr lang="en-US" altLang="ko-KR" sz="1600" b="1" dirty="0"/>
          </a:p>
          <a:p>
            <a:r>
              <a:rPr lang="en-US" altLang="ko-KR" sz="1600" dirty="0"/>
              <a:t>  *</a:t>
            </a:r>
            <a:r>
              <a:rPr lang="ko-KR" altLang="en-US" sz="1600" dirty="0"/>
              <a:t>하기 페이지 참조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AEA9DB-7AE8-83F6-8454-99228A0FE728}"/>
              </a:ext>
            </a:extLst>
          </p:cNvPr>
          <p:cNvSpPr txBox="1"/>
          <p:nvPr/>
        </p:nvSpPr>
        <p:spPr>
          <a:xfrm>
            <a:off x="49161" y="414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CRS </a:t>
            </a:r>
            <a:r>
              <a:rPr lang="ko-KR" altLang="en-US" b="1" dirty="0"/>
              <a:t>연동 목록</a:t>
            </a:r>
            <a:endParaRPr lang="ko-KR" altLang="en-US" sz="18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3DC6579-DD06-0799-0343-11CE01FEE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9304" y="532006"/>
            <a:ext cx="6219824" cy="24664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6F9867-D7E8-4B26-C679-9A2C2C5D59C8}"/>
              </a:ext>
            </a:extLst>
          </p:cNvPr>
          <p:cNvSpPr txBox="1"/>
          <p:nvPr/>
        </p:nvSpPr>
        <p:spPr>
          <a:xfrm>
            <a:off x="7495179" y="3101267"/>
            <a:ext cx="210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[PLM] </a:t>
            </a:r>
            <a:r>
              <a:rPr lang="ko-KR" altLang="en-US" sz="1400" b="1" dirty="0"/>
              <a:t>규제확인 호출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0C66BF8-3379-47F8-B43F-384F0FEA6E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2358" y="3743539"/>
            <a:ext cx="2350894" cy="5531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D785AA2-161F-7854-DC5A-2F66DE6D26F3}"/>
              </a:ext>
            </a:extLst>
          </p:cNvPr>
          <p:cNvSpPr txBox="1"/>
          <p:nvPr/>
        </p:nvSpPr>
        <p:spPr>
          <a:xfrm>
            <a:off x="7776623" y="4316359"/>
            <a:ext cx="1545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[CRS] </a:t>
            </a:r>
            <a:r>
              <a:rPr lang="ko-KR" altLang="en-US" sz="1400" b="1" dirty="0"/>
              <a:t>규제 확인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F8C4F78-F454-8F73-C418-5D98F714EF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1916" y="4952640"/>
            <a:ext cx="2771775" cy="145432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B81F376-C35D-23F4-ECA8-BEF1F2D1954A}"/>
              </a:ext>
            </a:extLst>
          </p:cNvPr>
          <p:cNvSpPr txBox="1"/>
          <p:nvPr/>
        </p:nvSpPr>
        <p:spPr>
          <a:xfrm>
            <a:off x="7530679" y="6424399"/>
            <a:ext cx="2037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신규 </a:t>
            </a:r>
            <a:r>
              <a:rPr lang="ko-KR" altLang="en-US" sz="1400" b="1" dirty="0" err="1"/>
              <a:t>팝업창</a:t>
            </a:r>
            <a:r>
              <a:rPr lang="ko-KR" altLang="en-US" sz="1400" b="1" dirty="0"/>
              <a:t> 규제 확인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282E047-0560-86F7-6025-8F7DDA6DFBB0}"/>
              </a:ext>
            </a:extLst>
          </p:cNvPr>
          <p:cNvCxnSpPr>
            <a:endCxn id="13" idx="0"/>
          </p:cNvCxnSpPr>
          <p:nvPr/>
        </p:nvCxnSpPr>
        <p:spPr>
          <a:xfrm>
            <a:off x="8427804" y="3409044"/>
            <a:ext cx="1" cy="3344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811D475-931B-E35A-32AC-F5B5E2B23649}"/>
              </a:ext>
            </a:extLst>
          </p:cNvPr>
          <p:cNvCxnSpPr/>
          <p:nvPr/>
        </p:nvCxnSpPr>
        <p:spPr>
          <a:xfrm>
            <a:off x="8427804" y="4624136"/>
            <a:ext cx="0" cy="366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852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B43AC-DA3D-C9F6-8445-A871CA2B6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96C5E805-F2FE-9EB9-CB2B-C34DF272C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EAD00442-9784-43A9-DBE6-0A669A8696D0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8691F2F4-8BD8-F3CF-D6FB-750EE661F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6460BB4C-2EF0-0897-C10B-0FDDB3748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82FF58-A2A7-81CE-245A-CF6162AA1FDE}"/>
              </a:ext>
            </a:extLst>
          </p:cNvPr>
          <p:cNvSpPr txBox="1"/>
          <p:nvPr/>
        </p:nvSpPr>
        <p:spPr>
          <a:xfrm>
            <a:off x="4617079" y="1307224"/>
            <a:ext cx="477066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/>
              <a:t>목 차</a:t>
            </a:r>
            <a:endParaRPr lang="en-US" altLang="ko-KR" sz="2400" b="1" dirty="0"/>
          </a:p>
          <a:p>
            <a:pPr marL="342900" indent="-342900">
              <a:buAutoNum type="arabicPeriod"/>
            </a:pPr>
            <a:endParaRPr lang="en-US" altLang="ko-KR" sz="2400" b="1" dirty="0"/>
          </a:p>
          <a:p>
            <a:pPr marL="342900" indent="-342900">
              <a:buAutoNum type="arabicPeriod"/>
            </a:pPr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</a:rPr>
              <a:t>CRS </a:t>
            </a: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연동 목록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2400" b="1" dirty="0"/>
              <a:t>시스템 연동 검토</a:t>
            </a:r>
            <a:endParaRPr lang="en-US" altLang="ko-KR" sz="2400" b="1" dirty="0"/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</a:rPr>
              <a:t>API </a:t>
            </a: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기술 검토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시스템 확장성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규제검토 시스템 검토 현황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/>
          </a:p>
          <a:p>
            <a:pPr marL="342900" indent="-342900">
              <a:buAutoNum type="arabicPeriod"/>
            </a:pPr>
            <a:endParaRPr lang="en-US" altLang="ko-KR" sz="2400" b="1" dirty="0"/>
          </a:p>
          <a:p>
            <a:pPr marL="342900" indent="-342900">
              <a:buAutoNum type="arabicPeriod"/>
            </a:pP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70397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E4208-47B8-C703-8326-A8DCFC40B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7F698B76-1195-91A7-C4E2-8FE56A3A9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D7BB32AB-7AE6-78DD-2B25-57993ECF34D9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B5ED3398-C574-EEA7-774F-430A0254B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40367099-19DE-E0EF-2DF7-10F86E152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0D962C4-B359-870E-5B6E-694565CA9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8499" y="1665130"/>
            <a:ext cx="1681162" cy="4018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41FA631-C5CC-7600-6C44-AA63C6C40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5" y="1840411"/>
            <a:ext cx="4467225" cy="3667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5FC9540A-B97E-98C3-D11B-EB107C8D9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161" y="1090596"/>
            <a:ext cx="1395412" cy="676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0C6FC3C9-0446-7DA7-9797-3FA9005C6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917" y="1083057"/>
            <a:ext cx="2157276" cy="634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C8934D-8658-CE7E-289E-523829E58EE9}"/>
              </a:ext>
            </a:extLst>
          </p:cNvPr>
          <p:cNvSpPr txBox="1"/>
          <p:nvPr/>
        </p:nvSpPr>
        <p:spPr>
          <a:xfrm>
            <a:off x="49161" y="565548"/>
            <a:ext cx="3286125" cy="369332"/>
          </a:xfrm>
          <a:prstGeom prst="rect">
            <a:avLst/>
          </a:prstGeom>
          <a:solidFill>
            <a:srgbClr val="FF9966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latin typeface="Segoe UI Black" panose="020B0A02040204020203" pitchFamily="34" charset="0"/>
              </a:rPr>
              <a:t>성분 마스터 및 </a:t>
            </a:r>
            <a:r>
              <a:rPr lang="ko-KR" altLang="en-US" b="1" dirty="0" err="1">
                <a:solidFill>
                  <a:schemeClr val="bg1"/>
                </a:solidFill>
                <a:latin typeface="Segoe UI Black" panose="020B0A02040204020203" pitchFamily="34" charset="0"/>
              </a:rPr>
              <a:t>역전개</a:t>
            </a:r>
            <a:r>
              <a:rPr lang="ko-KR" altLang="en-US" b="1" dirty="0">
                <a:solidFill>
                  <a:schemeClr val="bg1"/>
                </a:solidFill>
                <a:latin typeface="Segoe UI Black" panose="020B0A02040204020203" pitchFamily="34" charset="0"/>
              </a:rPr>
              <a:t>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CE5472-30FA-F3C7-B853-85A9CC31B4EE}"/>
              </a:ext>
            </a:extLst>
          </p:cNvPr>
          <p:cNvSpPr txBox="1"/>
          <p:nvPr/>
        </p:nvSpPr>
        <p:spPr>
          <a:xfrm>
            <a:off x="49161" y="414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시스템 연동 검토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699359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3CC55-7693-D493-EDE6-60F841881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246AF01C-350F-96B0-F517-E3932B9F8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62FD627-6DE0-14BF-46D5-4F501602F4A0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8075C6FC-FF8B-980A-048A-AAEA78E14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1AA21017-9E59-4A75-EF97-612EBC1AE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pic>
        <p:nvPicPr>
          <p:cNvPr id="3084" name="Picture 12">
            <a:extLst>
              <a:ext uri="{FF2B5EF4-FFF2-40B4-BE49-F238E27FC236}">
                <a16:creationId xmlns:a16="http://schemas.microsoft.com/office/drawing/2014/main" id="{5DC3BB6C-7E33-51FE-0099-ED66B9520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3738" y="451131"/>
            <a:ext cx="6176381" cy="6249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708797-5EF8-2E7D-57F1-082DA42F3353}"/>
              </a:ext>
            </a:extLst>
          </p:cNvPr>
          <p:cNvSpPr txBox="1"/>
          <p:nvPr/>
        </p:nvSpPr>
        <p:spPr>
          <a:xfrm>
            <a:off x="49161" y="565548"/>
            <a:ext cx="3286125" cy="369332"/>
          </a:xfrm>
          <a:prstGeom prst="rect">
            <a:avLst/>
          </a:prstGeom>
          <a:solidFill>
            <a:srgbClr val="FF996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Segoe UI Black" panose="020B0A02040204020203" pitchFamily="34" charset="0"/>
              </a:rPr>
              <a:t>M</a:t>
            </a:r>
            <a:r>
              <a:rPr lang="ko-KR" altLang="en-US" b="1" dirty="0">
                <a:solidFill>
                  <a:schemeClr val="bg1"/>
                </a:solidFill>
                <a:latin typeface="Segoe UI Black" panose="020B0A02040204020203" pitchFamily="34" charset="0"/>
              </a:rPr>
              <a:t>코드 생성 및 원료등록신청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737F99-9842-25C4-2F2F-C152B58F8B53}"/>
              </a:ext>
            </a:extLst>
          </p:cNvPr>
          <p:cNvSpPr txBox="1"/>
          <p:nvPr/>
        </p:nvSpPr>
        <p:spPr>
          <a:xfrm>
            <a:off x="49161" y="414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시스템 연동 검토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850986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2C47F-52C2-801A-0CCC-19B8C7937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DBF61B4C-5A9D-56EB-7E62-B6B5E6524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A36FF33-32BE-B024-A533-35B2025774CF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BDBCA6D1-B67C-0D20-9A37-08128AAB6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0236D9B3-75C7-48DB-47A4-3016FC238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BDF1FEF4-800A-5CD0-F13E-D0C7BCAD6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12" y="2027302"/>
            <a:ext cx="12119296" cy="2803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095854-93C5-DD05-89F4-7C51B5F41CF5}"/>
              </a:ext>
            </a:extLst>
          </p:cNvPr>
          <p:cNvSpPr txBox="1"/>
          <p:nvPr/>
        </p:nvSpPr>
        <p:spPr>
          <a:xfrm>
            <a:off x="49161" y="565548"/>
            <a:ext cx="3286125" cy="353943"/>
          </a:xfrm>
          <a:prstGeom prst="rect">
            <a:avLst/>
          </a:prstGeom>
          <a:solidFill>
            <a:srgbClr val="FF996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700" b="1" dirty="0">
                <a:solidFill>
                  <a:schemeClr val="bg1"/>
                </a:solidFill>
                <a:latin typeface="Segoe UI Black" panose="020B0A02040204020203" pitchFamily="34" charset="0"/>
              </a:rPr>
              <a:t>Recipe Data </a:t>
            </a:r>
            <a:r>
              <a:rPr lang="ko-KR" altLang="en-US" sz="1700" b="1" dirty="0">
                <a:solidFill>
                  <a:schemeClr val="bg1"/>
                </a:solidFill>
                <a:latin typeface="Segoe UI Black" panose="020B0A02040204020203" pitchFamily="34" charset="0"/>
              </a:rPr>
              <a:t>전성분등록</a:t>
            </a:r>
            <a:r>
              <a:rPr lang="en-US" altLang="ko-KR" sz="1700" b="1" dirty="0">
                <a:solidFill>
                  <a:schemeClr val="bg1"/>
                </a:solidFill>
                <a:latin typeface="Segoe UI Black" panose="020B0A02040204020203" pitchFamily="34" charset="0"/>
              </a:rPr>
              <a:t>/</a:t>
            </a:r>
            <a:r>
              <a:rPr lang="ko-KR" altLang="en-US" sz="1700" b="1" dirty="0">
                <a:solidFill>
                  <a:schemeClr val="bg1"/>
                </a:solidFill>
                <a:latin typeface="Segoe UI Black" panose="020B0A02040204020203" pitchFamily="34" charset="0"/>
              </a:rPr>
              <a:t>취소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843549-BD94-A002-B831-A5DB695D698B}"/>
              </a:ext>
            </a:extLst>
          </p:cNvPr>
          <p:cNvSpPr txBox="1"/>
          <p:nvPr/>
        </p:nvSpPr>
        <p:spPr>
          <a:xfrm>
            <a:off x="49161" y="414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시스템 연동 검토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788187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83EEC-B092-7FA2-64F4-BB605B475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285EE76F-60FD-5A82-3850-27A93174D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4615198C-2D35-F9BA-9BED-68B4959EBB15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A19622B8-5F24-45B4-108A-2975AAD97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F88AEBF4-9E9E-717F-5F48-02766A9B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A19967-55B8-68AF-3DE0-7185713E7ABB}"/>
              </a:ext>
            </a:extLst>
          </p:cNvPr>
          <p:cNvSpPr txBox="1"/>
          <p:nvPr/>
        </p:nvSpPr>
        <p:spPr>
          <a:xfrm>
            <a:off x="49161" y="565548"/>
            <a:ext cx="3286125" cy="369332"/>
          </a:xfrm>
          <a:prstGeom prst="rect">
            <a:avLst/>
          </a:prstGeom>
          <a:solidFill>
            <a:srgbClr val="FF996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Segoe UI Black" panose="020B0A02040204020203" pitchFamily="34" charset="0"/>
              </a:rPr>
              <a:t>Recipe Data </a:t>
            </a:r>
            <a:r>
              <a:rPr lang="ko-KR" altLang="en-US" b="1" dirty="0">
                <a:solidFill>
                  <a:schemeClr val="bg1"/>
                </a:solidFill>
                <a:latin typeface="Segoe UI Black" panose="020B0A02040204020203" pitchFamily="34" charset="0"/>
              </a:rPr>
              <a:t>처방확정</a:t>
            </a:r>
            <a:r>
              <a:rPr lang="en-US" altLang="ko-KR" b="1" dirty="0">
                <a:solidFill>
                  <a:schemeClr val="bg1"/>
                </a:solidFill>
                <a:latin typeface="Segoe UI Black" panose="020B0A02040204020203" pitchFamily="34" charset="0"/>
              </a:rPr>
              <a:t>/</a:t>
            </a:r>
            <a:r>
              <a:rPr lang="ko-KR" altLang="en-US" b="1" dirty="0">
                <a:solidFill>
                  <a:schemeClr val="bg1"/>
                </a:solidFill>
                <a:latin typeface="Segoe UI Black" panose="020B0A02040204020203" pitchFamily="34" charset="0"/>
              </a:rPr>
              <a:t>취소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09B80A6-240E-819A-2DDF-5676202AE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7" y="994977"/>
            <a:ext cx="12119126" cy="542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4D893D-416B-179D-762A-8711B70B7690}"/>
              </a:ext>
            </a:extLst>
          </p:cNvPr>
          <p:cNvSpPr txBox="1"/>
          <p:nvPr/>
        </p:nvSpPr>
        <p:spPr>
          <a:xfrm>
            <a:off x="49161" y="414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시스템 연동 검토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679629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33250-B8DD-BF6E-F80D-C2FF01CA9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09C78E3A-B260-DED0-0C42-5F02D7C55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0DED083D-A275-5AB4-339D-58B8B4602D05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09CD84F6-B90A-1CC1-23AF-261F63F04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D9854426-6F65-50B0-EFDA-D692E0352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21384-BDCC-3C4E-07A7-F2CCF2985F90}"/>
              </a:ext>
            </a:extLst>
          </p:cNvPr>
          <p:cNvSpPr txBox="1"/>
          <p:nvPr/>
        </p:nvSpPr>
        <p:spPr>
          <a:xfrm>
            <a:off x="49161" y="565548"/>
            <a:ext cx="3286125" cy="369332"/>
          </a:xfrm>
          <a:prstGeom prst="rect">
            <a:avLst/>
          </a:prstGeom>
          <a:solidFill>
            <a:srgbClr val="FF996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Segoe UI Black" panose="020B0A02040204020203" pitchFamily="34" charset="0"/>
              </a:rPr>
              <a:t>PLM &gt; CRS </a:t>
            </a:r>
            <a:r>
              <a:rPr lang="ko-KR" altLang="en-US" b="1" dirty="0">
                <a:solidFill>
                  <a:schemeClr val="bg1"/>
                </a:solidFill>
                <a:latin typeface="Segoe UI Black" panose="020B0A02040204020203" pitchFamily="34" charset="0"/>
              </a:rPr>
              <a:t>규제 검토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49E41F7-4EDA-1CBD-7782-EE1851349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56296"/>
            <a:ext cx="11125200" cy="4713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82FF5C-9792-73EC-4765-1D535F0CF63F}"/>
              </a:ext>
            </a:extLst>
          </p:cNvPr>
          <p:cNvSpPr txBox="1"/>
          <p:nvPr/>
        </p:nvSpPr>
        <p:spPr>
          <a:xfrm>
            <a:off x="49161" y="414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시스템 연동 검토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928709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A352E-9313-ABB2-0621-FD4AC6E5B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27062E6D-28F1-AD6C-F32F-DC40C1A1D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EB74084C-0A8B-24DE-36F1-2BCB9B7F2E1E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069C5639-1FA6-0CBB-9378-39E91E388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18E1DCE5-0F9A-4917-086E-B3A774B00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FC7D68-7B5D-8B0B-513D-885C324637F3}"/>
              </a:ext>
            </a:extLst>
          </p:cNvPr>
          <p:cNvSpPr txBox="1"/>
          <p:nvPr/>
        </p:nvSpPr>
        <p:spPr>
          <a:xfrm>
            <a:off x="4617079" y="1307224"/>
            <a:ext cx="477066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목 차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</a:rPr>
              <a:t>CRS </a:t>
            </a: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연동 목록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시스템 연동 검토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sz="2400" b="1" dirty="0"/>
              <a:t>API </a:t>
            </a:r>
            <a:r>
              <a:rPr lang="ko-KR" altLang="en-US" sz="2400" b="1" dirty="0"/>
              <a:t>기술 검토</a:t>
            </a:r>
            <a:endParaRPr lang="en-US" altLang="ko-KR" sz="2400" b="1" dirty="0"/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시스템 확장성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규제검토 시스템 검토 현황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ko-KR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68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507CC-D0CF-B3BB-405F-4F9E61316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CAC5BAB5-8599-659B-37F3-13D1F08B1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73C2FED-BBFE-543E-B5EA-8AA957CD9A10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8E879D68-B10C-F3A2-3001-22A449EDD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2EEC864F-357F-4219-315B-AF7A31AEE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7AFF2-E62A-0A71-A8DE-80E812878877}"/>
              </a:ext>
            </a:extLst>
          </p:cNvPr>
          <p:cNvSpPr txBox="1"/>
          <p:nvPr/>
        </p:nvSpPr>
        <p:spPr>
          <a:xfrm>
            <a:off x="49161" y="414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</a:t>
            </a:r>
            <a:r>
              <a:rPr lang="en-US" altLang="ko-KR" sz="1800" b="1" dirty="0"/>
              <a:t>. </a:t>
            </a:r>
            <a:r>
              <a:rPr lang="en-US" altLang="ko-KR" b="1" dirty="0"/>
              <a:t>API</a:t>
            </a:r>
            <a:r>
              <a:rPr lang="ko-KR" altLang="en-US" b="1" dirty="0"/>
              <a:t> 기술 검토</a:t>
            </a:r>
            <a:endParaRPr lang="ko-KR" altLang="en-US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42CDBF-61E6-4C81-AF3A-267D1C4E8B5F}"/>
              </a:ext>
            </a:extLst>
          </p:cNvPr>
          <p:cNvSpPr txBox="1"/>
          <p:nvPr/>
        </p:nvSpPr>
        <p:spPr>
          <a:xfrm>
            <a:off x="532872" y="960533"/>
            <a:ext cx="904712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API</a:t>
            </a:r>
            <a:r>
              <a:rPr lang="ko-KR" altLang="en-US" sz="1600" b="1" dirty="0"/>
              <a:t> 기술 검토</a:t>
            </a:r>
            <a:endParaRPr lang="en-US" altLang="ko-KR" sz="1600" b="1" dirty="0"/>
          </a:p>
          <a:p>
            <a:r>
              <a:rPr lang="en-US" altLang="ko-KR" sz="1600" b="1" dirty="0"/>
              <a:t>  </a:t>
            </a:r>
            <a:r>
              <a:rPr lang="en-US" altLang="ko-KR" sz="1600" dirty="0"/>
              <a:t>PLM </a:t>
            </a:r>
            <a:r>
              <a:rPr lang="ko-KR" altLang="en-US" sz="1600" dirty="0"/>
              <a:t>제공 </a:t>
            </a:r>
            <a:r>
              <a:rPr lang="en-US" altLang="ko-KR" sz="1600" dirty="0"/>
              <a:t>: URL </a:t>
            </a:r>
            <a:r>
              <a:rPr lang="ko-KR" altLang="en-US" sz="1600" dirty="0"/>
              <a:t>형태</a:t>
            </a:r>
            <a:endParaRPr lang="en-US" altLang="ko-KR" sz="1600" dirty="0"/>
          </a:p>
          <a:p>
            <a:r>
              <a:rPr lang="en-US" altLang="ko-KR" sz="1600" dirty="0"/>
              <a:t>  </a:t>
            </a:r>
            <a:r>
              <a:rPr lang="ko-KR" altLang="en-US" sz="1600" dirty="0">
                <a:hlinkClick r:id="rId4"/>
              </a:rPr>
              <a:t>http://192.168.115.21/csi-requesthandler/api/v2/</a:t>
            </a:r>
            <a:r>
              <a:rPr lang="en-US" altLang="ko-KR" sz="1600" dirty="0"/>
              <a:t>{</a:t>
            </a:r>
            <a:r>
              <a:rPr lang="en-US" altLang="ko-KR" sz="1600" dirty="0" err="1"/>
              <a:t>BusinessObject</a:t>
            </a:r>
            <a:r>
              <a:rPr lang="en-US" altLang="ko-KR" sz="1600" dirty="0"/>
              <a:t>}</a:t>
            </a:r>
            <a:r>
              <a:rPr lang="ko-KR" altLang="en-US" sz="1600" dirty="0"/>
              <a:t>?</a:t>
            </a:r>
            <a:r>
              <a:rPr lang="en-US" altLang="ko-KR" sz="1600" dirty="0"/>
              <a:t>{Attribute}</a:t>
            </a:r>
            <a:r>
              <a:rPr lang="ko-KR" altLang="en-US" sz="1600" dirty="0"/>
              <a:t>=</a:t>
            </a:r>
            <a:r>
              <a:rPr lang="en-US" altLang="ko-KR" sz="1600" dirty="0"/>
              <a:t>{Value}</a:t>
            </a:r>
            <a:endParaRPr lang="ko-KR" altLang="en-US" sz="1600" dirty="0"/>
          </a:p>
          <a:p>
            <a:endParaRPr lang="en-US" altLang="ko-KR" sz="1600" b="1" dirty="0"/>
          </a:p>
          <a:p>
            <a:r>
              <a:rPr lang="en-US" altLang="ko-KR" sz="1600" b="1" dirty="0"/>
              <a:t>VALUE</a:t>
            </a:r>
          </a:p>
          <a:p>
            <a:r>
              <a:rPr lang="en-US" altLang="ko-KR" sz="1600" dirty="0"/>
              <a:t>  JSON </a:t>
            </a:r>
            <a:r>
              <a:rPr lang="ko-KR" altLang="en-US" sz="1600" dirty="0"/>
              <a:t>형태</a:t>
            </a:r>
            <a:endParaRPr lang="en-US" altLang="ko-KR" sz="1600" dirty="0"/>
          </a:p>
          <a:p>
            <a:endParaRPr lang="en-US" altLang="ko-KR" sz="16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9456B9A-D8C3-0A64-B57E-44C4BEBD6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331" y="2495550"/>
            <a:ext cx="4657725" cy="2819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A2C880-DACE-6375-D045-37407F695EB6}"/>
              </a:ext>
            </a:extLst>
          </p:cNvPr>
          <p:cNvSpPr txBox="1"/>
          <p:nvPr/>
        </p:nvSpPr>
        <p:spPr>
          <a:xfrm>
            <a:off x="532872" y="5419557"/>
            <a:ext cx="90471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PLM </a:t>
            </a:r>
            <a:r>
              <a:rPr lang="ko-KR" altLang="en-US" sz="1600" b="1" dirty="0"/>
              <a:t>내 </a:t>
            </a:r>
            <a:r>
              <a:rPr lang="en-US" altLang="ko-KR" sz="1600" b="1" dirty="0"/>
              <a:t>Object </a:t>
            </a:r>
            <a:r>
              <a:rPr lang="ko-KR" altLang="en-US" sz="1600" b="1" dirty="0"/>
              <a:t>별 데이터 제공 가능</a:t>
            </a:r>
            <a:endParaRPr lang="en-US" altLang="ko-KR" sz="1600" b="1" dirty="0"/>
          </a:p>
          <a:p>
            <a:r>
              <a:rPr lang="en-US" altLang="ko-KR" sz="1600" dirty="0"/>
              <a:t>  </a:t>
            </a:r>
            <a:r>
              <a:rPr lang="ko-KR" altLang="en-US" sz="1600" dirty="0"/>
              <a:t>시스템 통신 </a:t>
            </a:r>
            <a:r>
              <a:rPr lang="ko-KR" altLang="en-US" sz="1600" dirty="0" err="1"/>
              <a:t>가능시</a:t>
            </a:r>
            <a:r>
              <a:rPr lang="en-US" altLang="ko-KR" sz="1600" dirty="0"/>
              <a:t>, CRS </a:t>
            </a:r>
            <a:r>
              <a:rPr lang="ko-KR" altLang="en-US" sz="1600" dirty="0"/>
              <a:t>내 데이터 처리 여부에 따른 검토 필요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029574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68A08-0D14-1F64-6A4C-1DE8A3A28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B68732BF-B357-C133-C117-2644DBEE1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114B00B1-F06B-3373-FEA7-BC27BC3863B8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402DF706-5AFE-CCD0-2034-255781A78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DB0D83B-FA65-2ECF-B9BE-7AA06B168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054924-ED04-EE42-B024-9850E60B7650}"/>
              </a:ext>
            </a:extLst>
          </p:cNvPr>
          <p:cNvSpPr txBox="1"/>
          <p:nvPr/>
        </p:nvSpPr>
        <p:spPr>
          <a:xfrm>
            <a:off x="4617079" y="1307224"/>
            <a:ext cx="477066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목 차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</a:rPr>
              <a:t>CRS </a:t>
            </a: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연동 목록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시스템 연동 검토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</a:rPr>
              <a:t>API </a:t>
            </a: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기술 검토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2400" b="1" dirty="0"/>
              <a:t>시스템 확장성</a:t>
            </a:r>
            <a:endParaRPr lang="en-US" altLang="ko-KR" sz="2400" b="1" dirty="0"/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규제검토 시스템 검토 현황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ko-KR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059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5ABA5-B164-066E-6FEB-E80515992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7692F705-705B-7A72-120B-F855089FB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AA964F3D-5638-47A6-590E-AD51C5241673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6E25F2B7-94A2-B37F-1512-E1D5DD9FB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93713CEE-0865-4687-4651-0EDFAADCC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20089C-C02E-7F23-2717-E0CC96FC64DA}"/>
              </a:ext>
            </a:extLst>
          </p:cNvPr>
          <p:cNvSpPr txBox="1"/>
          <p:nvPr/>
        </p:nvSpPr>
        <p:spPr>
          <a:xfrm>
            <a:off x="49161" y="414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/>
              <a:t>4. </a:t>
            </a:r>
            <a:r>
              <a:rPr lang="ko-KR" altLang="en-US" sz="1800" b="1" dirty="0"/>
              <a:t>시스템 확장성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D3DE9FE-BBE1-BA6D-6290-44EE626A9C66}"/>
              </a:ext>
            </a:extLst>
          </p:cNvPr>
          <p:cNvSpPr/>
          <p:nvPr/>
        </p:nvSpPr>
        <p:spPr>
          <a:xfrm>
            <a:off x="5219700" y="4458582"/>
            <a:ext cx="5067300" cy="9906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B2B </a:t>
            </a:r>
            <a:r>
              <a:rPr lang="ko-KR" altLang="en-US" dirty="0"/>
              <a:t>생태계 구성</a:t>
            </a:r>
            <a:endParaRPr lang="en-US" altLang="ko-KR" dirty="0"/>
          </a:p>
          <a:p>
            <a:pPr algn="ctr"/>
            <a:r>
              <a:rPr lang="ko-KR" altLang="en-US" dirty="0"/>
              <a:t>원료 샘플 권고 </a:t>
            </a:r>
            <a:r>
              <a:rPr lang="en-US" altLang="ko-KR" dirty="0"/>
              <a:t>/ </a:t>
            </a:r>
            <a:r>
              <a:rPr lang="ko-KR" altLang="en-US" dirty="0"/>
              <a:t>기술 자료 다운로드 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FDEDE52-FD07-6C32-2F82-5278245CFEFD}"/>
              </a:ext>
            </a:extLst>
          </p:cNvPr>
          <p:cNvSpPr/>
          <p:nvPr/>
        </p:nvSpPr>
        <p:spPr>
          <a:xfrm>
            <a:off x="2014537" y="1879260"/>
            <a:ext cx="2657475" cy="514350"/>
          </a:xfrm>
          <a:prstGeom prst="rect">
            <a:avLst/>
          </a:prstGeom>
          <a:solidFill>
            <a:srgbClr val="E96E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원료 추천 </a:t>
            </a:r>
            <a:r>
              <a:rPr lang="en-US" altLang="ko-KR" dirty="0"/>
              <a:t>· </a:t>
            </a:r>
            <a:r>
              <a:rPr lang="ko-KR" altLang="en-US" dirty="0"/>
              <a:t>매칭 시스템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57B260-4353-CBD7-FFE6-2EFE1B1CBA85}"/>
              </a:ext>
            </a:extLst>
          </p:cNvPr>
          <p:cNvSpPr/>
          <p:nvPr/>
        </p:nvSpPr>
        <p:spPr>
          <a:xfrm>
            <a:off x="2014537" y="3295229"/>
            <a:ext cx="2657475" cy="514350"/>
          </a:xfrm>
          <a:prstGeom prst="rect">
            <a:avLst/>
          </a:prstGeom>
          <a:solidFill>
            <a:srgbClr val="E96E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원료 이력 </a:t>
            </a:r>
            <a:r>
              <a:rPr lang="en-US" altLang="ko-KR" dirty="0"/>
              <a:t>· </a:t>
            </a:r>
            <a:r>
              <a:rPr lang="ko-KR" altLang="en-US" dirty="0"/>
              <a:t>신뢰도 관리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15F71DB-0BDB-A590-F983-D509F7DE41EE}"/>
              </a:ext>
            </a:extLst>
          </p:cNvPr>
          <p:cNvSpPr/>
          <p:nvPr/>
        </p:nvSpPr>
        <p:spPr>
          <a:xfrm>
            <a:off x="2014537" y="4710914"/>
            <a:ext cx="2657475" cy="514350"/>
          </a:xfrm>
          <a:prstGeom prst="rect">
            <a:avLst/>
          </a:prstGeom>
          <a:solidFill>
            <a:srgbClr val="E96E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원료사</a:t>
            </a:r>
            <a:r>
              <a:rPr lang="ko-KR" altLang="en-US" dirty="0"/>
              <a:t> 홍보 </a:t>
            </a:r>
            <a:r>
              <a:rPr lang="en-US" altLang="ko-KR" dirty="0"/>
              <a:t>/ </a:t>
            </a:r>
            <a:r>
              <a:rPr lang="ko-KR" altLang="en-US" dirty="0"/>
              <a:t>제안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2E6FBB1-B67E-724E-47DE-F96C7068C719}"/>
              </a:ext>
            </a:extLst>
          </p:cNvPr>
          <p:cNvSpPr/>
          <p:nvPr/>
        </p:nvSpPr>
        <p:spPr>
          <a:xfrm>
            <a:off x="5219700" y="1655342"/>
            <a:ext cx="5067300" cy="9906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규제에 해당하지 않는 원료 매칭</a:t>
            </a:r>
            <a:endParaRPr lang="en-US" altLang="ko-KR" dirty="0"/>
          </a:p>
          <a:p>
            <a:pPr algn="ctr"/>
            <a:r>
              <a:rPr lang="en-US" altLang="ko-KR" dirty="0"/>
              <a:t>ex. EU </a:t>
            </a:r>
            <a:r>
              <a:rPr lang="ko-KR" altLang="en-US" dirty="0"/>
              <a:t>수출용으로 적합한 </a:t>
            </a:r>
            <a:r>
              <a:rPr lang="en-US" altLang="ko-KR" dirty="0"/>
              <a:t>A </a:t>
            </a:r>
            <a:r>
              <a:rPr lang="ko-KR" altLang="en-US" dirty="0"/>
              <a:t>효능의 원료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0D6ED22-0993-374A-AF74-757EF7B434E7}"/>
              </a:ext>
            </a:extLst>
          </p:cNvPr>
          <p:cNvSpPr/>
          <p:nvPr/>
        </p:nvSpPr>
        <p:spPr>
          <a:xfrm>
            <a:off x="5219700" y="3057763"/>
            <a:ext cx="5067300" cy="9906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LTMS</a:t>
            </a:r>
            <a:r>
              <a:rPr lang="ko-KR" altLang="en-US" dirty="0"/>
              <a:t>와의 연동을 통한 제품별 성분별 </a:t>
            </a:r>
            <a:endParaRPr lang="en-US" altLang="ko-KR" dirty="0"/>
          </a:p>
          <a:p>
            <a:pPr algn="ctr"/>
            <a:r>
              <a:rPr lang="ko-KR" altLang="en-US" dirty="0"/>
              <a:t>시험결과 분석 및 원료별 신뢰도 관리</a:t>
            </a:r>
          </a:p>
        </p:txBody>
      </p:sp>
    </p:spTree>
    <p:extLst>
      <p:ext uri="{BB962C8B-B14F-4D97-AF65-F5344CB8AC3E}">
        <p14:creationId xmlns:p14="http://schemas.microsoft.com/office/powerpoint/2010/main" val="3684612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81FF7-6E47-B14D-4A43-E6A53E38B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7B926412-EB55-DDCC-492F-930CACF48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A5A4A343-E5B1-7A2E-CB7C-41A547F2CCD0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17B71CBB-9EC2-C097-2D12-A8E619296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62D2413A-0E41-8CCD-3FA4-B0B8D6FF5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732101-07EC-ED44-5A4F-05B088074B6E}"/>
              </a:ext>
            </a:extLst>
          </p:cNvPr>
          <p:cNvSpPr txBox="1"/>
          <p:nvPr/>
        </p:nvSpPr>
        <p:spPr>
          <a:xfrm>
            <a:off x="4617079" y="1307224"/>
            <a:ext cx="477066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목 차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</a:rPr>
              <a:t>CRS </a:t>
            </a: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연동 목록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시스템 연동 검토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</a:rPr>
              <a:t>API </a:t>
            </a: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기술 검토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</a:rPr>
              <a:t>시스템 확장성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2400" b="1" dirty="0"/>
              <a:t>규제검토 시스템 검토 현황</a:t>
            </a:r>
            <a:endParaRPr lang="en-US" altLang="ko-KR" sz="2400" b="1" dirty="0"/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altLang="ko-KR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ko-KR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383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A1A21-540F-775B-4382-560CD844F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FFB0EDC2-6759-E160-FF10-BCF9A9A80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90BE734E-C2A7-851B-8C36-7CFD36FB6858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8B650194-314F-9A5F-6691-D3239A023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D7429BC7-B953-CEEB-4B57-40392C7B5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6999F0-7E94-C7C0-16D2-E57DC933536C}"/>
              </a:ext>
            </a:extLst>
          </p:cNvPr>
          <p:cNvSpPr txBox="1"/>
          <p:nvPr/>
        </p:nvSpPr>
        <p:spPr>
          <a:xfrm>
            <a:off x="182342" y="562215"/>
            <a:ext cx="2042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/>
              <a:t>■ 플랫폼 개발 기간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75C6A6-06C9-1180-AE72-28034B0BA952}"/>
              </a:ext>
            </a:extLst>
          </p:cNvPr>
          <p:cNvGraphicFramePr>
            <a:graphicFrameLocks noGrp="1"/>
          </p:cNvGraphicFramePr>
          <p:nvPr/>
        </p:nvGraphicFramePr>
        <p:xfrm>
          <a:off x="766355" y="1645920"/>
          <a:ext cx="10985782" cy="4686225"/>
        </p:xfrm>
        <a:graphic>
          <a:graphicData uri="http://schemas.openxmlformats.org/drawingml/2006/table">
            <a:tbl>
              <a:tblPr/>
              <a:tblGrid>
                <a:gridCol w="1116759">
                  <a:extLst>
                    <a:ext uri="{9D8B030D-6E8A-4147-A177-3AD203B41FA5}">
                      <a16:colId xmlns:a16="http://schemas.microsoft.com/office/drawing/2014/main" val="385821947"/>
                    </a:ext>
                  </a:extLst>
                </a:gridCol>
                <a:gridCol w="1227857">
                  <a:extLst>
                    <a:ext uri="{9D8B030D-6E8A-4147-A177-3AD203B41FA5}">
                      <a16:colId xmlns:a16="http://schemas.microsoft.com/office/drawing/2014/main" val="984973689"/>
                    </a:ext>
                  </a:extLst>
                </a:gridCol>
                <a:gridCol w="3803635">
                  <a:extLst>
                    <a:ext uri="{9D8B030D-6E8A-4147-A177-3AD203B41FA5}">
                      <a16:colId xmlns:a16="http://schemas.microsoft.com/office/drawing/2014/main" val="99310275"/>
                    </a:ext>
                  </a:extLst>
                </a:gridCol>
                <a:gridCol w="1501342">
                  <a:extLst>
                    <a:ext uri="{9D8B030D-6E8A-4147-A177-3AD203B41FA5}">
                      <a16:colId xmlns:a16="http://schemas.microsoft.com/office/drawing/2014/main" val="886928087"/>
                    </a:ext>
                  </a:extLst>
                </a:gridCol>
                <a:gridCol w="276221">
                  <a:extLst>
                    <a:ext uri="{9D8B030D-6E8A-4147-A177-3AD203B41FA5}">
                      <a16:colId xmlns:a16="http://schemas.microsoft.com/office/drawing/2014/main" val="2651076240"/>
                    </a:ext>
                  </a:extLst>
                </a:gridCol>
                <a:gridCol w="303785">
                  <a:extLst>
                    <a:ext uri="{9D8B030D-6E8A-4147-A177-3AD203B41FA5}">
                      <a16:colId xmlns:a16="http://schemas.microsoft.com/office/drawing/2014/main" val="2862505691"/>
                    </a:ext>
                  </a:extLst>
                </a:gridCol>
                <a:gridCol w="277630">
                  <a:extLst>
                    <a:ext uri="{9D8B030D-6E8A-4147-A177-3AD203B41FA5}">
                      <a16:colId xmlns:a16="http://schemas.microsoft.com/office/drawing/2014/main" val="2146498430"/>
                    </a:ext>
                  </a:extLst>
                </a:gridCol>
                <a:gridCol w="225323">
                  <a:extLst>
                    <a:ext uri="{9D8B030D-6E8A-4147-A177-3AD203B41FA5}">
                      <a16:colId xmlns:a16="http://schemas.microsoft.com/office/drawing/2014/main" val="1966500264"/>
                    </a:ext>
                  </a:extLst>
                </a:gridCol>
                <a:gridCol w="225323">
                  <a:extLst>
                    <a:ext uri="{9D8B030D-6E8A-4147-A177-3AD203B41FA5}">
                      <a16:colId xmlns:a16="http://schemas.microsoft.com/office/drawing/2014/main" val="3911218180"/>
                    </a:ext>
                  </a:extLst>
                </a:gridCol>
                <a:gridCol w="225323">
                  <a:extLst>
                    <a:ext uri="{9D8B030D-6E8A-4147-A177-3AD203B41FA5}">
                      <a16:colId xmlns:a16="http://schemas.microsoft.com/office/drawing/2014/main" val="1779861374"/>
                    </a:ext>
                  </a:extLst>
                </a:gridCol>
                <a:gridCol w="225323">
                  <a:extLst>
                    <a:ext uri="{9D8B030D-6E8A-4147-A177-3AD203B41FA5}">
                      <a16:colId xmlns:a16="http://schemas.microsoft.com/office/drawing/2014/main" val="2664506168"/>
                    </a:ext>
                  </a:extLst>
                </a:gridCol>
                <a:gridCol w="225323">
                  <a:extLst>
                    <a:ext uri="{9D8B030D-6E8A-4147-A177-3AD203B41FA5}">
                      <a16:colId xmlns:a16="http://schemas.microsoft.com/office/drawing/2014/main" val="2115247342"/>
                    </a:ext>
                  </a:extLst>
                </a:gridCol>
                <a:gridCol w="225323">
                  <a:extLst>
                    <a:ext uri="{9D8B030D-6E8A-4147-A177-3AD203B41FA5}">
                      <a16:colId xmlns:a16="http://schemas.microsoft.com/office/drawing/2014/main" val="2957382279"/>
                    </a:ext>
                  </a:extLst>
                </a:gridCol>
                <a:gridCol w="225323">
                  <a:extLst>
                    <a:ext uri="{9D8B030D-6E8A-4147-A177-3AD203B41FA5}">
                      <a16:colId xmlns:a16="http://schemas.microsoft.com/office/drawing/2014/main" val="284814193"/>
                    </a:ext>
                  </a:extLst>
                </a:gridCol>
                <a:gridCol w="225323">
                  <a:extLst>
                    <a:ext uri="{9D8B030D-6E8A-4147-A177-3AD203B41FA5}">
                      <a16:colId xmlns:a16="http://schemas.microsoft.com/office/drawing/2014/main" val="243852517"/>
                    </a:ext>
                  </a:extLst>
                </a:gridCol>
                <a:gridCol w="225323">
                  <a:extLst>
                    <a:ext uri="{9D8B030D-6E8A-4147-A177-3AD203B41FA5}">
                      <a16:colId xmlns:a16="http://schemas.microsoft.com/office/drawing/2014/main" val="3595655187"/>
                    </a:ext>
                  </a:extLst>
                </a:gridCol>
                <a:gridCol w="225323">
                  <a:extLst>
                    <a:ext uri="{9D8B030D-6E8A-4147-A177-3AD203B41FA5}">
                      <a16:colId xmlns:a16="http://schemas.microsoft.com/office/drawing/2014/main" val="2319483384"/>
                    </a:ext>
                  </a:extLst>
                </a:gridCol>
                <a:gridCol w="225323">
                  <a:extLst>
                    <a:ext uri="{9D8B030D-6E8A-4147-A177-3AD203B41FA5}">
                      <a16:colId xmlns:a16="http://schemas.microsoft.com/office/drawing/2014/main" val="2987022354"/>
                    </a:ext>
                  </a:extLst>
                </a:gridCol>
              </a:tblGrid>
              <a:tr h="31241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카테고리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업무내용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유관부서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145307"/>
                  </a:ext>
                </a:extLst>
              </a:tr>
              <a:tr h="312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209420"/>
                  </a:ext>
                </a:extLst>
              </a:tr>
              <a:tr h="312415">
                <a:tc rowSpan="1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규제 검증 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(CRS) </a:t>
                      </a:r>
                    </a:p>
                    <a:p>
                      <a:pPr algn="ctr" fontAlgn="ctr">
                        <a:buNone/>
                      </a:pP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자체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정리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성분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 Base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500ea)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CRS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TFT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162586"/>
                  </a:ext>
                </a:extLst>
              </a:tr>
              <a:tr h="312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성분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 Base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미국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유럽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아세안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일본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대만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중국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CRS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TFT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548609"/>
                  </a:ext>
                </a:extLst>
              </a:tr>
              <a:tr h="312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국가별 원료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정리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CRS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TFT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256110"/>
                  </a:ext>
                </a:extLst>
              </a:tr>
              <a:tr h="312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투자심의 및 계약 검토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CMK &amp; </a:t>
                      </a: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코아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IT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411754"/>
                  </a:ext>
                </a:extLst>
              </a:tr>
              <a:tr h="312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개발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착수 및 보고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(KICK OFF)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코아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IT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304232"/>
                  </a:ext>
                </a:extLst>
              </a:tr>
              <a:tr h="312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서버 셋팅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코아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IT</a:t>
                      </a:r>
                      <a:endParaRPr kumimoji="0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163448"/>
                  </a:ext>
                </a:extLst>
              </a:tr>
              <a:tr h="312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요구사항 분석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코아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IT</a:t>
                      </a:r>
                      <a:endParaRPr kumimoji="0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87638"/>
                  </a:ext>
                </a:extLst>
              </a:tr>
              <a:tr h="312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 Base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구축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코아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IT</a:t>
                      </a:r>
                      <a:endParaRPr kumimoji="0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598327"/>
                  </a:ext>
                </a:extLst>
              </a:tr>
              <a:tr h="312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설계작업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화면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코아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IT</a:t>
                      </a:r>
                      <a:endParaRPr kumimoji="0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077494"/>
                  </a:ext>
                </a:extLst>
              </a:tr>
              <a:tr h="312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작업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코아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IT</a:t>
                      </a:r>
                      <a:endParaRPr kumimoji="0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650646"/>
                  </a:ext>
                </a:extLst>
              </a:tr>
              <a:tr h="312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개발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코아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IT</a:t>
                      </a:r>
                      <a:endParaRPr kumimoji="0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758505"/>
                  </a:ext>
                </a:extLst>
              </a:tr>
              <a:tr h="312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테스트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CRS TFT &amp;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제형연구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070842"/>
                  </a:ext>
                </a:extLst>
              </a:tr>
              <a:tr h="312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Open</a:t>
                      </a:r>
                      <a:endParaRPr lang="ko-KR" alt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CRS</a:t>
                      </a:r>
                      <a:r>
                        <a:rPr lang="ko-KR" alt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서비스 오픈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CRS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TFT &amp; </a:t>
                      </a: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코아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IT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913" marR="7913" marT="7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06503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6132DE6-56AA-72FB-542D-DBA1E17CCE9F}"/>
              </a:ext>
            </a:extLst>
          </p:cNvPr>
          <p:cNvSpPr txBox="1"/>
          <p:nvPr/>
        </p:nvSpPr>
        <p:spPr>
          <a:xfrm>
            <a:off x="578219" y="927829"/>
            <a:ext cx="90348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6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CRS(</a:t>
            </a:r>
            <a:r>
              <a:rPr lang="en-US" altLang="ko-KR" sz="16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Cosmecca</a:t>
            </a: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 Regulatory &amp; safety System)</a:t>
            </a:r>
            <a:r>
              <a:rPr lang="en-US" altLang="ko-KR" sz="16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 TFT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    - IT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팀 </a:t>
            </a:r>
            <a:r>
              <a: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(</a:t>
            </a:r>
            <a:r>
              <a:rPr lang="ko-KR" altLang="en-US" sz="1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홍정의</a:t>
            </a:r>
            <a:r>
              <a: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황경진</a:t>
            </a:r>
            <a:r>
              <a: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최연웅</a:t>
            </a:r>
            <a:r>
              <a: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박진영</a:t>
            </a:r>
            <a:r>
              <a: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)</a:t>
            </a: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/ 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규제연구팀 </a:t>
            </a:r>
            <a:r>
              <a: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(</a:t>
            </a:r>
            <a:r>
              <a:rPr lang="ko-KR" altLang="en-US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이현아</a:t>
            </a:r>
            <a:r>
              <a: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강효정</a:t>
            </a:r>
            <a:r>
              <a: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문송이</a:t>
            </a:r>
            <a:r>
              <a: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문지원</a:t>
            </a:r>
            <a:r>
              <a: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이한솔</a:t>
            </a:r>
            <a:r>
              <a: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)/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기반연구팀 </a:t>
            </a:r>
            <a:r>
              <a: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(</a:t>
            </a:r>
            <a:r>
              <a:rPr lang="ko-KR" altLang="en-US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서재용</a:t>
            </a:r>
            <a:r>
              <a: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강병훈</a:t>
            </a:r>
            <a:r>
              <a: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)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058DF8-AB74-9285-DEF9-DC6B377DF0E3}"/>
              </a:ext>
            </a:extLst>
          </p:cNvPr>
          <p:cNvSpPr txBox="1"/>
          <p:nvPr/>
        </p:nvSpPr>
        <p:spPr>
          <a:xfrm>
            <a:off x="49161" y="414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5</a:t>
            </a:r>
            <a:r>
              <a:rPr lang="en-US" altLang="ko-KR" sz="1800" b="1" dirty="0"/>
              <a:t>. </a:t>
            </a:r>
            <a:r>
              <a:rPr lang="ko-KR" altLang="en-US" sz="1800" b="1" dirty="0"/>
              <a:t>규제검토 시스템 검토 현황</a:t>
            </a:r>
          </a:p>
        </p:txBody>
      </p:sp>
    </p:spTree>
    <p:extLst>
      <p:ext uri="{BB962C8B-B14F-4D97-AF65-F5344CB8AC3E}">
        <p14:creationId xmlns:p14="http://schemas.microsoft.com/office/powerpoint/2010/main" val="3662883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D5334-9F87-A265-6F33-717EFA854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 descr="C:\Users\이창원\Desktop\코스메카-CI_영문.gif">
            <a:extLst>
              <a:ext uri="{FF2B5EF4-FFF2-40B4-BE49-F238E27FC236}">
                <a16:creationId xmlns:a16="http://schemas.microsoft.com/office/drawing/2014/main" id="{288C2E0F-FD72-DBF1-82C4-926210F53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847" y="6570203"/>
            <a:ext cx="1330418" cy="2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A7B5338F-D9C0-CA4A-AFB7-E29983881F67}"/>
              </a:ext>
            </a:extLst>
          </p:cNvPr>
          <p:cNvSpPr/>
          <p:nvPr/>
        </p:nvSpPr>
        <p:spPr>
          <a:xfrm rot="5400000">
            <a:off x="5275197" y="1418519"/>
            <a:ext cx="45719" cy="10596114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3">
            <a:extLst>
              <a:ext uri="{FF2B5EF4-FFF2-40B4-BE49-F238E27FC236}">
                <a16:creationId xmlns:a16="http://schemas.microsoft.com/office/drawing/2014/main" id="{8E32D648-6E00-D78F-47C3-AAD22EE9B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092" y="54430"/>
            <a:ext cx="293381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Global Best OGM Company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F5FC0793-3BE1-E40A-E4F9-5316BB5C6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307"/>
            <a:ext cx="12181332" cy="76200"/>
          </a:xfrm>
          <a:prstGeom prst="rect">
            <a:avLst/>
          </a:prstGeom>
          <a:gradFill flip="none" rotWithShape="1">
            <a:gsLst>
              <a:gs pos="0">
                <a:srgbClr val="E96E67">
                  <a:tint val="66000"/>
                  <a:satMod val="160000"/>
                </a:srgbClr>
              </a:gs>
              <a:gs pos="50000">
                <a:srgbClr val="E96E67">
                  <a:tint val="44500"/>
                  <a:satMod val="160000"/>
                </a:srgbClr>
              </a:gs>
              <a:gs pos="100000">
                <a:srgbClr val="E96E67">
                  <a:tint val="23500"/>
                  <a:satMod val="160000"/>
                </a:srgb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HY그래픽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550BB4-59C0-EE9B-2056-A78E38EE86AF}"/>
              </a:ext>
            </a:extLst>
          </p:cNvPr>
          <p:cNvSpPr txBox="1"/>
          <p:nvPr/>
        </p:nvSpPr>
        <p:spPr>
          <a:xfrm>
            <a:off x="182342" y="562215"/>
            <a:ext cx="2042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/>
              <a:t>■ 플랫폼 개발 비용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4E2E5-79D8-E179-6339-77CE30AE182D}"/>
              </a:ext>
            </a:extLst>
          </p:cNvPr>
          <p:cNvSpPr txBox="1"/>
          <p:nvPr/>
        </p:nvSpPr>
        <p:spPr>
          <a:xfrm>
            <a:off x="49161" y="414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5</a:t>
            </a:r>
            <a:r>
              <a:rPr lang="en-US" altLang="ko-KR" sz="1800" b="1" dirty="0"/>
              <a:t>. </a:t>
            </a:r>
            <a:r>
              <a:rPr lang="ko-KR" altLang="en-US" sz="1800" b="1" dirty="0"/>
              <a:t>규제검토 시스템 검토 현황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FE37F43-8A96-15B8-590C-E415A0BDF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650" y="953477"/>
            <a:ext cx="10425021" cy="541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250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233B2-BC4B-704D-54A3-B4A2408DB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040BE030-FB2D-C4F1-B014-35403BBF99B8}"/>
              </a:ext>
            </a:extLst>
          </p:cNvPr>
          <p:cNvCxnSpPr>
            <a:cxnSpLocks/>
          </p:cNvCxnSpPr>
          <p:nvPr/>
        </p:nvCxnSpPr>
        <p:spPr>
          <a:xfrm>
            <a:off x="8308258" y="5279598"/>
            <a:ext cx="3883742" cy="0"/>
          </a:xfrm>
          <a:prstGeom prst="line">
            <a:avLst/>
          </a:prstGeom>
          <a:ln>
            <a:solidFill>
              <a:srgbClr val="E96E6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51" name="Picture 13" descr="C:\Users\이창원\Desktop\코스메카-CI_영문.gif">
            <a:extLst>
              <a:ext uri="{FF2B5EF4-FFF2-40B4-BE49-F238E27FC236}">
                <a16:creationId xmlns:a16="http://schemas.microsoft.com/office/drawing/2014/main" id="{2685E9EC-D33C-73F1-FA54-C5EF613A0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048" y="5087510"/>
            <a:ext cx="187166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제목 1">
            <a:extLst>
              <a:ext uri="{FF2B5EF4-FFF2-40B4-BE49-F238E27FC236}">
                <a16:creationId xmlns:a16="http://schemas.microsoft.com/office/drawing/2014/main" id="{2DB86DC6-6F75-F07D-FEED-5887996A6FC8}"/>
              </a:ext>
            </a:extLst>
          </p:cNvPr>
          <p:cNvSpPr txBox="1">
            <a:spLocks/>
          </p:cNvSpPr>
          <p:nvPr/>
        </p:nvSpPr>
        <p:spPr>
          <a:xfrm>
            <a:off x="2477647" y="6572250"/>
            <a:ext cx="3702144" cy="285750"/>
          </a:xfrm>
          <a:prstGeom prst="rect">
            <a:avLst/>
          </a:prstGeom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5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  <a:cs typeface="Tahoma" pitchFamily="34" charset="0"/>
              </a:rPr>
              <a:t>본 문서는 사외유출을 금지하며</a:t>
            </a:r>
            <a:r>
              <a:rPr kumimoji="1" lang="en-US" altLang="ko-KR" sz="105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  <a:cs typeface="Tahoma" pitchFamily="34" charset="0"/>
              </a:rPr>
              <a:t>, </a:t>
            </a:r>
            <a:r>
              <a:rPr kumimoji="1" lang="ko-KR" altLang="en-US" sz="105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  <a:cs typeface="Tahoma" pitchFamily="34" charset="0"/>
              </a:rPr>
              <a:t>모든 권한은 회사에 있음</a:t>
            </a:r>
            <a:r>
              <a:rPr kumimoji="1" lang="en-US" altLang="ko-KR" sz="105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  <a:cs typeface="Tahoma" pitchFamily="34" charset="0"/>
              </a:rPr>
              <a:t>.</a:t>
            </a:r>
            <a:endParaRPr kumimoji="1" lang="ko-KR" altLang="en-US" sz="1050" dirty="0">
              <a:solidFill>
                <a:prstClr val="black"/>
              </a:solidFill>
              <a:latin typeface="굴림" pitchFamily="50" charset="-127"/>
              <a:ea typeface="굴림" pitchFamily="50" charset="-127"/>
              <a:cs typeface="Tahoma" pitchFamily="34" charset="0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2ADFD50-3BA7-83F9-F019-D55EFC96EADF}"/>
              </a:ext>
            </a:extLst>
          </p:cNvPr>
          <p:cNvCxnSpPr/>
          <p:nvPr/>
        </p:nvCxnSpPr>
        <p:spPr>
          <a:xfrm>
            <a:off x="2545847" y="6583364"/>
            <a:ext cx="2071687" cy="158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4AE34F8-ABA5-61A5-ABC7-CCEB4E27F8DA}"/>
              </a:ext>
            </a:extLst>
          </p:cNvPr>
          <p:cNvSpPr/>
          <p:nvPr/>
        </p:nvSpPr>
        <p:spPr>
          <a:xfrm>
            <a:off x="1475029" y="0"/>
            <a:ext cx="741591" cy="6857998"/>
          </a:xfrm>
          <a:prstGeom prst="rect">
            <a:avLst/>
          </a:prstGeom>
          <a:solidFill>
            <a:schemeClr val="accent2">
              <a:lumMod val="60000"/>
              <a:lumOff val="40000"/>
              <a:alpha val="62000"/>
            </a:schemeClr>
          </a:solidFill>
          <a:ln>
            <a:noFill/>
          </a:ln>
          <a:effectLst>
            <a:outerShdw blurRad="50800" dist="101600" algn="l" rotWithShape="0">
              <a:schemeClr val="accent6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D600B5B-0EF7-6BDF-AFB4-B1BE5F6C8B66}"/>
              </a:ext>
            </a:extLst>
          </p:cNvPr>
          <p:cNvSpPr/>
          <p:nvPr/>
        </p:nvSpPr>
        <p:spPr>
          <a:xfrm>
            <a:off x="988563" y="0"/>
            <a:ext cx="1007385" cy="6857998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CAE1762-74FF-BE8D-6BF7-DC2CA5AF1C10}"/>
              </a:ext>
            </a:extLst>
          </p:cNvPr>
          <p:cNvSpPr/>
          <p:nvPr/>
        </p:nvSpPr>
        <p:spPr>
          <a:xfrm>
            <a:off x="0" y="0"/>
            <a:ext cx="1378336" cy="6857998"/>
          </a:xfrm>
          <a:prstGeom prst="rect">
            <a:avLst/>
          </a:prstGeom>
          <a:solidFill>
            <a:srgbClr val="E96E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AADCF23-8344-1100-3170-67A0CD875C06}"/>
              </a:ext>
            </a:extLst>
          </p:cNvPr>
          <p:cNvSpPr txBox="1"/>
          <p:nvPr/>
        </p:nvSpPr>
        <p:spPr>
          <a:xfrm>
            <a:off x="9910619" y="4956211"/>
            <a:ext cx="2232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IT</a:t>
            </a:r>
            <a:r>
              <a:rPr lang="ko-KR" altLang="en-US" sz="1200" b="1" dirty="0" err="1"/>
              <a:t>전략팀</a:t>
            </a:r>
            <a:r>
              <a:rPr lang="ko-KR" altLang="en-US" sz="1200" b="1" dirty="0"/>
              <a:t> 최연웅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3F7387-0EE3-A5A7-D064-9EDAE1C95021}"/>
              </a:ext>
            </a:extLst>
          </p:cNvPr>
          <p:cNvSpPr txBox="1"/>
          <p:nvPr/>
        </p:nvSpPr>
        <p:spPr>
          <a:xfrm>
            <a:off x="10250129" y="5340880"/>
            <a:ext cx="17390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2026. 01. 06</a:t>
            </a:r>
            <a:endParaRPr lang="ko-KR" alt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090FE-EA31-2317-FD93-CAEF2DE330AD}"/>
              </a:ext>
            </a:extLst>
          </p:cNvPr>
          <p:cNvSpPr txBox="1"/>
          <p:nvPr/>
        </p:nvSpPr>
        <p:spPr>
          <a:xfrm>
            <a:off x="3998961" y="2967334"/>
            <a:ext cx="557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1">
                    <a:lumMod val="50000"/>
                  </a:schemeClr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735619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17395</TotalTime>
  <Words>2778</Words>
  <Application>Microsoft Office PowerPoint</Application>
  <PresentationFormat>와이드스크린</PresentationFormat>
  <Paragraphs>455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굴림</vt:lpstr>
      <vt:lpstr>맑은 고딕</vt:lpstr>
      <vt:lpstr>Arial</vt:lpstr>
      <vt:lpstr>Segoe UI Black</vt:lpstr>
      <vt:lpstr>Tahoma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이현아</dc:creator>
  <cp:lastModifiedBy>AJ12397248</cp:lastModifiedBy>
  <cp:revision>285</cp:revision>
  <cp:lastPrinted>2025-12-03T00:41:41Z</cp:lastPrinted>
  <dcterms:created xsi:type="dcterms:W3CDTF">2025-01-20T08:58:09Z</dcterms:created>
  <dcterms:modified xsi:type="dcterms:W3CDTF">2026-01-06T07:16:38Z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Aibm9kZUNvdW50IjogNCwgIm5vZGUxIiA6IHsiZHNkIjoiMDEwMDAwMDAwMDAwMjE2MCIsImxvZ1RpbWUiOiIyMDI2LTAxLTA1VDA2OjU3OjEzWiIsInBJRCI6MSwicHJvY2Vzc0lkIjoyODYyNCwicHJvY2Vzc05hbWUiOiJQT1dFUlBOVC5FWEUiLCJ0cmFjZUlkIjoiMTZGNzFBMjA1NDY2NDk4N0I2NDA4REY5QzhBRDAyMUQiLCJ1c2VyQ29kZSI6IjIzMTAwNCJ9LCJub2RlMiIgOiB7ImRzZCI6IjAxMDAwMDAwMDAwMDIxNjAiLCJsb2dUaW1lIjoiMjAyNi0wMS0wNVQwNjo1NzoxM1oiLCJwSUQiOjEsInByb2Nlc3NJZCI6Mjg2MjQsInByb2Nlc3NOYW1lIjoiUE9XRVJQTlQuRVhFIiwidHJhY2VJZCI6IjE2RjcxQTIwNTQ2NjQ5ODdCNjQwOERGOUM4QUQwMjFEIiwidXNlckNvZGUiOiIyMzEwMDQifSwibm9kZTMiIDogeyJkc2QiOiIwMTAwMDAwMDAwMDAyMTYwIiwibG9nVGltZSI6IjIwMjYtMDEtMDVUMTQ6MzQ6NTVaIiwicElEIjoxLCJwcm9jZXNzSWQiOjI4NjI0LCJwcm9jZXNzTmFtZSI6IlBPV0VSUE5ULkVYRSIsInRyYWNlSWQiOiIwRkM1RjIxQzE3NkQ0RDMxQUI2NTcwNEJERDJENTM1NSIsInVzZXJDb2RlIjoiMjMxMDA0In0sIm5vZGU0IiA6IHsiZHNkIjoiMDEwMDAwMDAwMDAwMjE2MCIsImxvZ1RpbWUiOiIyMDI2LTAxLTA1VDIzOjMzOjU2WiIsInBJRCI6MSwicHJvY2Vzc0lkIjoyMjQwNCwicHJvY2Vzc05hbWUiOiJQT1dFUlBOVC5FWEUiLCJ0cmFjZUlkIjoiRkJGNTMwMDQxRUUxNDI2Mjk2NEVFODc0MkVFQTc0QkMiLCJ1c2VyQ29kZSI6IjIzMTAwNCJ9LCJub2RlNSIgOiB7ICJ1c2VyQ29kZSIgOiAiMjMxMDA0IiwgInRyYWNlSWQiIDogIjMyRDg5NkVGNUExM0I3N0U0OUU2MThENDFBRjRFQUNCIiwgImRzZCIgOiAiMDAwMDAwMDAwMDAwMDAwMCIsICJwSUQiIDogIjIwNDgiLCAibG9nVGltZSIgOiAiMjAyNi0wMS0wNlQwNzoxNzo0MloiIH19</vt:lpwstr>
  </property>
</Properties>
</file>